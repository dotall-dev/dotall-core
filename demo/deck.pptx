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ARR and NRR, then hand to Priya for the commission line. The commission figure is read from the workbook named range Rate (Inputs!B2) — if the board changes the rate, we edit the workbook, not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66928" y="658368"/>
            <a:ext cx="11057839" cy="749808"/>
          </a:xfrm>
        </p:spPr>
        <p:txBody>
          <a:bodyPr wrap="square" lIns="0" bIns="0" tIns="0" anchor="b"/>
          <a:lstStyle/>
          <a:p>
            <a:pPr algn="l"/>
            <a:r>
              <a:rPr sz="3400" b="0">
                <a:solidFill>
                  <a:srgbClr val="1F4E79"/>
                </a:solidFill>
                <a:latin typeface="Calibri Light"/>
              </a:rPr>
              <a:t>Q3 Product Review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566928" y="1783080"/>
            <a:ext cx="6400800" cy="3108960"/>
          </a:xfrm>
        </p:spPr>
        <p:txBody>
          <a:bodyPr wrap="square" lIns="0" tIns="0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Northstar Analytics closed Q3 with ARR at $48.9M, up 6.1% in the quarter.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Net revenue retention held at 114% on the &gt;$25k cohort; SMB churn is the drag.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Partner commission runs off the live workbook rate — no hand-typed numbers in this deck.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Agent-assisted pack assembly cut the close-to-board cycle from nine days to four.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0" bIns="0"/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NORTHSTAR ANALYTICS   |   FY2026 Q3 BOARD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135" y="82296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2CC"/>
                </a:solidFill>
                <a:latin typeface="Calibri"/>
              </a:rP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57839" cy="9525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Northstar Analytics · prepared by Priya Shah, VP Finance · 17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5488"/>
            <a:ext cx="11057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BF8F00"/>
                </a:solidFill>
                <a:latin typeface="Calibri"/>
              </a:rPr>
              <a:t>PRODUCT AND REVENUE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1051560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618488" y="1463040"/>
            <a:ext cx="10006279" cy="38100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2" name="Metrics"/>
          <p:cNvGraphicFramePr>
            <a:graphicFrameLocks noGrp="1"/>
          </p:cNvGraphicFramePr>
          <p:nvPr/>
        </p:nvGraphicFramePr>
        <p:xfrm>
          <a:off x="7360920" y="1783080"/>
          <a:ext cx="4261103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41884"/>
                <a:gridCol w="1619219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109728" marR="10972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9728" marR="109728" marT="27432" marB="27432" anchor="ctr"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NPS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ARR</a:t>
                      </a:r>
                    </a:p>
                  </a:txBody>
                  <a:tcPr marL="109728" marR="109728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$48.9M</a:t>
                      </a:r>
                    </a:p>
                  </a:txBody>
                  <a:tcPr marL="109728" marR="109728" marT="27432" marB="27432" anchor="ctr">
                    <a:solidFill>
                      <a:srgbClr val="EFF2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NRR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114%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Net new ARR</a:t>
                      </a:r>
                    </a:p>
                  </a:txBody>
                  <a:tcPr marL="109728" marR="109728" marT="27432" marB="27432" anchor="ctr"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  <a:latin typeface="Calibri"/>
                        </a:rPr>
                        <a:t>$2.8M</a:t>
                      </a:r>
                    </a:p>
                  </a:txBody>
                  <a:tcPr marL="109728" marR="109728" marT="27432" marB="27432" anchor="ctr">
                    <a:solidFill>
                      <a:srgbClr val="EFF2F6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5541264"/>
            <a:ext cx="11057839" cy="566928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r>
              <a:rPr sz="1000" b="1">
                <a:solidFill>
                  <a:srgbClr val="1F4E79"/>
                </a:solidFill>
                <a:latin typeface="Calibri"/>
              </a:rPr>
              <a:t>So what   </a:t>
            </a:r>
            <a:r>
              <a:rPr sz="1150">
                <a:solidFill>
                  <a:srgbClr val="262626"/>
                </a:solidFill>
                <a:latin typeface="Calibri"/>
              </a:rPr>
              <a:t>Growth is intact; retention in SMB is the one number we are not proud of.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541264"/>
            <a:ext cx="4445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66928" y="658368"/>
            <a:ext cx="11057839" cy="749808"/>
          </a:xfrm>
        </p:spPr>
        <p:txBody>
          <a:bodyPr wrap="square" lIns="0" bIns="0" tIns="0" anchor="b"/>
          <a:lstStyle/>
          <a:p>
            <a:pPr algn="l"/>
            <a:r>
              <a:rPr sz="3000" b="0">
                <a:solidFill>
                  <a:srgbClr val="1F4E79"/>
                </a:solidFill>
                <a:latin typeface="Calibri Light"/>
              </a:rPr>
              <a:t>Agenda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566928" y="1783080"/>
            <a:ext cx="11057839" cy="3566160"/>
          </a:xfrm>
        </p:spPr>
        <p:txBody>
          <a:bodyPr wrap="square" lIns="0" tIns="0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Where the quarter landed — ARR, NRR, cash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Pipeline and Q4 coverage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Product: what shipped, what slipped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Risks and mitigations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0" bIns="0"/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NORTHSTAR ANALYTICS   |   FY2026 Q3 BOARD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135" y="82296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2CC"/>
                </a:solidFill>
                <a:latin typeface="Calibri"/>
              </a:rP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57839" cy="9525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Northstar Analytics · prepared by Priya Shah, VP Finance · 17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1051560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618488" y="1463040"/>
            <a:ext cx="10006279" cy="38100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5541264"/>
            <a:ext cx="11057839" cy="566928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r>
              <a:rPr sz="1000" b="1">
                <a:solidFill>
                  <a:srgbClr val="1F4E79"/>
                </a:solidFill>
                <a:latin typeface="Calibri"/>
              </a:rPr>
              <a:t>So what   </a:t>
            </a:r>
            <a:r>
              <a:rPr sz="1150">
                <a:solidFill>
                  <a:srgbClr val="262626"/>
                </a:solidFill>
                <a:latin typeface="Calibri"/>
              </a:rPr>
              <a:t>Forty minutes of material, fifteen minutes of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541264"/>
            <a:ext cx="4445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66928" y="658368"/>
            <a:ext cx="11057839" cy="749808"/>
          </a:xfrm>
        </p:spPr>
        <p:txBody>
          <a:bodyPr wrap="square" lIns="0" bIns="0" tIns="0" anchor="b"/>
          <a:lstStyle/>
          <a:p>
            <a:pPr algn="l"/>
            <a:r>
              <a:rPr sz="3000" b="0">
                <a:solidFill>
                  <a:srgbClr val="1F4E79"/>
                </a:solidFill>
                <a:latin typeface="Calibri Light"/>
              </a:rPr>
              <a:t>Pipeline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566928" y="1783080"/>
            <a:ext cx="11057839" cy="3566160"/>
          </a:xfrm>
        </p:spPr>
        <p:txBody>
          <a:bodyPr wrap="square" lIns="0" tIns="0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Weighted Q4 pipeline is $8.9M against a $2.9M new-ARR plan — 3.1x coverage.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Stage 4+ deals grew 22% quarter over quarter; two verbals slipped out of Q3.</a:t>
            </a:r>
          </a:p>
          <a:p>
            <a:pPr lvl="1">
              <a:spcAft>
                <a:spcPts val="900"/>
              </a:spcAft>
            </a:pPr>
            <a:r>
              <a:rPr sz="1350">
                <a:solidFill>
                  <a:srgbClr val="595959"/>
                </a:solidFill>
                <a:latin typeface="Calibri"/>
              </a:rPr>
              <a:t>Security review is the long pole: median 19 days from business case to signature.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Partner-sourced pipeline is now 18% of the total, up from 11% a year ago.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0" bIns="0"/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NORTHSTAR ANALYTICS   |   FY2026 Q3 BOARD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135" y="82296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2CC"/>
                </a:solidFill>
                <a:latin typeface="Calibri"/>
              </a:rP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57839" cy="9525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Northstar Analytics · prepared by Priya Shah, VP Finance · 17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1051560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618488" y="1463040"/>
            <a:ext cx="10006279" cy="38100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5541264"/>
            <a:ext cx="11057839" cy="566928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r>
              <a:rPr sz="1000" b="1">
                <a:solidFill>
                  <a:srgbClr val="1F4E79"/>
                </a:solidFill>
                <a:latin typeface="Calibri"/>
              </a:rPr>
              <a:t>So what   </a:t>
            </a:r>
            <a:r>
              <a:rPr sz="1150">
                <a:solidFill>
                  <a:srgbClr val="262626"/>
                </a:solidFill>
                <a:latin typeface="Calibri"/>
              </a:rPr>
              <a:t>Coverage is above the 3.0x board threshold, but slippage is concentrated in security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541264"/>
            <a:ext cx="4445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66928" y="658368"/>
            <a:ext cx="11057839" cy="749808"/>
          </a:xfrm>
        </p:spPr>
        <p:txBody>
          <a:bodyPr wrap="square" lIns="0" bIns="0" tIns="0" anchor="b"/>
          <a:lstStyle/>
          <a:p>
            <a:pPr algn="l"/>
            <a:r>
              <a:rPr sz="3000" b="0">
                <a:solidFill>
                  <a:srgbClr val="1F4E79"/>
                </a:solidFill>
                <a:latin typeface="Calibri Light"/>
              </a:rPr>
              <a:t>Risks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566928" y="1783080"/>
            <a:ext cx="11057839" cy="3566160"/>
          </a:xfrm>
        </p:spPr>
        <p:txBody>
          <a:bodyPr wrap="square" lIns="0" tIns="0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SMB logo churn at 6.8% annualised — pricing test starts in Q4.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Two enterprise renewals worth $1.4M land in the first three weeks of Q4.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Hiring is six heads under plan; the shortfall funds Q4 security work.</a:t>
            </a:r>
          </a:p>
          <a:p>
            <a:pPr lvl="1">
              <a:spcAft>
                <a:spcPts val="900"/>
              </a:spcAft>
            </a:pPr>
            <a:r>
              <a:rPr sz="1350">
                <a:solidFill>
                  <a:srgbClr val="595959"/>
                </a:solidFill>
                <a:latin typeface="Calibri"/>
              </a:rPr>
              <a:t>Mitigation: named exec sponsor on every renewal above $250k.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0" bIns="0"/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NORTHSTAR ANALYTICS   |   FY2026 Q3 BOARD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135" y="82296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2CC"/>
                </a:solidFill>
                <a:latin typeface="Calibri"/>
              </a:rP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57839" cy="9525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Northstar Analytics · prepared by Priya Shah, VP Finance · 17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1051560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618488" y="1463040"/>
            <a:ext cx="10006279" cy="38100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5541264"/>
            <a:ext cx="11057839" cy="566928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r>
              <a:rPr sz="1000" b="1">
                <a:solidFill>
                  <a:srgbClr val="1F4E79"/>
                </a:solidFill>
                <a:latin typeface="Calibri"/>
              </a:rPr>
              <a:t>So what   </a:t>
            </a:r>
            <a:r>
              <a:rPr sz="1150">
                <a:solidFill>
                  <a:srgbClr val="262626"/>
                </a:solidFill>
                <a:latin typeface="Calibri"/>
              </a:rPr>
              <a:t>No existential risk this quarter; SMB retention needs a decision, not a watch item.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541264"/>
            <a:ext cx="4445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66928" y="658368"/>
            <a:ext cx="11057839" cy="749808"/>
          </a:xfrm>
        </p:spPr>
        <p:txBody>
          <a:bodyPr wrap="square" lIns="0" bIns="0" tIns="0" anchor="b"/>
          <a:lstStyle/>
          <a:p>
            <a:pPr algn="l"/>
            <a:r>
              <a:rPr sz="3000" b="0">
                <a:solidFill>
                  <a:srgbClr val="1F4E79"/>
                </a:solidFill>
                <a:latin typeface="Calibri Light"/>
              </a:rPr>
              <a:t>The ask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566928" y="1783080"/>
            <a:ext cx="11057839" cy="3566160"/>
          </a:xfrm>
        </p:spPr>
        <p:txBody>
          <a:bodyPr wrap="square" lIns="0" tIns="0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Approve the 10 percentage-point shift of Q4 demand-gen spend into partner enablement.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Confirm the commission rate for Q4 so Finance can lock the plan.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Sign off on two incremental security engineers, funded from the hiring underrun.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0" bIns="0"/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NORTHSTAR ANALYTICS   |   FY2026 Q3 BOARD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135" y="82296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2CC"/>
                </a:solidFill>
                <a:latin typeface="Calibri"/>
              </a:rP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57839" cy="9525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Northstar Analytics · prepared by Priya Shah, VP Finance · 17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1051560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618488" y="1463040"/>
            <a:ext cx="10006279" cy="38100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5541264"/>
            <a:ext cx="11057839" cy="566928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r>
              <a:rPr sz="1000" b="1">
                <a:solidFill>
                  <a:srgbClr val="1F4E79"/>
                </a:solidFill>
                <a:latin typeface="Calibri"/>
              </a:rPr>
              <a:t>So what   </a:t>
            </a:r>
            <a:r>
              <a:rPr sz="1150">
                <a:solidFill>
                  <a:srgbClr val="262626"/>
                </a:solidFill>
                <a:latin typeface="Calibri"/>
              </a:rPr>
              <a:t>Three decisions today; everything else is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541264"/>
            <a:ext cx="4445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66928" y="658368"/>
            <a:ext cx="11057839" cy="749808"/>
          </a:xfrm>
        </p:spPr>
        <p:txBody>
          <a:bodyPr wrap="square" lIns="0" bIns="0" tIns="0" anchor="b"/>
          <a:lstStyle/>
          <a:p>
            <a:pPr algn="l"/>
            <a:r>
              <a:rPr sz="3000" b="0">
                <a:solidFill>
                  <a:srgbClr val="1F4E79"/>
                </a:solidFill>
                <a:latin typeface="Calibri Light"/>
              </a:rPr>
              <a:t>Next Steps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566928" y="1783080"/>
            <a:ext cx="11057839" cy="3566160"/>
          </a:xfrm>
        </p:spPr>
        <p:txBody>
          <a:bodyPr wrap="square" lIns="0" tIns="0"/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Finance locks the Q4 commission rate in the workbook by 22 August.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GTM publishes the partner enablement plan and Q4 quota splits by 29 August.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Product ships the SMB pricing experiment behind a flag in week three.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262626"/>
                </a:solidFill>
                <a:latin typeface="Calibri"/>
              </a:rPr>
              <a:t>Board pack for Q4 assembles from the same workbook — one source of truth.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66928" tIns="0" bIns="0"/>
          <a:lstStyle/>
          <a:p>
            <a:r>
              <a:rPr sz="900" b="1">
                <a:solidFill>
                  <a:srgbClr val="FFFFFF"/>
                </a:solidFill>
                <a:latin typeface="Calibri"/>
              </a:rPr>
              <a:t>NORTHSTAR ANALYTICS   |   FY2026 Q3 BOARD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135" y="82296"/>
            <a:ext cx="1627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FFF2CC"/>
                </a:solidFill>
                <a:latin typeface="Calibri"/>
              </a:rP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272784"/>
            <a:ext cx="11057839" cy="9525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6928" y="6382512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Northstar Analytics · prepared by Priya Shah, VP Finance · 17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487" y="638251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463040"/>
            <a:ext cx="1051560" cy="38100"/>
          </a:xfrm>
          <a:prstGeom prst="rect">
            <a:avLst/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618488" y="1463040"/>
            <a:ext cx="10006279" cy="38100"/>
          </a:xfrm>
          <a:prstGeom prst="rect">
            <a:avLst/>
          </a:prstGeom>
          <a:solidFill>
            <a:srgbClr val="D6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5541264"/>
            <a:ext cx="11057839" cy="566928"/>
          </a:xfrm>
          <a:prstGeom prst="rect">
            <a:avLst/>
          </a:prstGeom>
          <a:solidFill>
            <a:srgbClr val="EF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/>
          <a:lstStyle/>
          <a:p>
            <a:r>
              <a:rPr sz="1000" b="1">
                <a:solidFill>
                  <a:srgbClr val="1F4E79"/>
                </a:solidFill>
                <a:latin typeface="Calibri"/>
              </a:rPr>
              <a:t>So what   </a:t>
            </a:r>
            <a:r>
              <a:rPr sz="1150">
                <a:solidFill>
                  <a:srgbClr val="262626"/>
                </a:solidFill>
                <a:latin typeface="Calibri"/>
              </a:rPr>
              <a:t>Owners and dates are in the memo; Finance owns the rate, GTM owns partner attach.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541264"/>
            <a:ext cx="44450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Analytics — Q3 Product Review</dc:title>
  <dc:subject>Q3 product and revenue review</dc:subject>
  <dc:creator>Priya Shah, VP Finance</dc:creator>
  <cp:keywords>Northstar Analytics; FY2026; Q3; board pack; confidential</cp:keywords>
  <dc:description>Confidential board material. KPI figures are quoted from the Q3 workbook.</dc:description>
  <cp:lastModifiedBy>Priya Shah, VP Finance</cp:lastModifiedBy>
  <cp:revision>1</cp:revision>
  <dcterms:created xsi:type="dcterms:W3CDTF">2013-01-27T09:14:16Z</dcterms:created>
  <dcterms:modified xsi:type="dcterms:W3CDTF">2013-01-27T09:15:58Z</dcterms:modified>
  <cp:category>Board reporting</cp:category>
</cp:coreProperties>
</file>