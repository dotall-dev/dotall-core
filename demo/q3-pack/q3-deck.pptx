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New ARR</c:v>
                </c:pt>
              </c:strCache>
            </c:strRef>
          </c:tx>
          <c:spPr>
            <a:solidFill>
              <a:srgbClr val="1F4E79"/>
            </a:solidFill>
          </c:spPr>
          <c:cat>
            <c:strRef>
              <c:f>Sheet1!$A$2:$A$13</c:f>
              <c:strCache>
                <c:ptCount val="12"/>
                <c:pt idx="0">
                  <c:v>Oct</c:v>
                </c:pt>
                <c:pt idx="1">
                  <c:v>Nov</c:v>
                </c:pt>
                <c:pt idx="2">
                  <c:v>Dec</c:v>
                </c:pt>
                <c:pt idx="3">
                  <c:v>Jan</c:v>
                </c:pt>
                <c:pt idx="4">
                  <c:v>Feb</c:v>
                </c:pt>
                <c:pt idx="5">
                  <c:v>Mar</c:v>
                </c:pt>
                <c:pt idx="6">
                  <c:v>Apr</c:v>
                </c:pt>
                <c:pt idx="7">
                  <c:v>May</c:v>
                </c:pt>
                <c:pt idx="8">
                  <c:v>Jun</c:v>
                </c:pt>
                <c:pt idx="9">
                  <c:v>Jul</c:v>
                </c:pt>
                <c:pt idx="10">
                  <c:v>Aug</c:v>
                </c:pt>
                <c:pt idx="11">
                  <c:v>Sep</c:v>
                </c:pt>
              </c:strCache>
            </c:strRef>
          </c:cat>
          <c:val>
            <c:numRef>
              <c:f>Sheet1!$B$2:$B$13</c:f>
              <c:numCache>
                <c:formatCode>General</c:formatCode>
                <c:ptCount val="12"/>
                <c:pt idx="0">
                  <c:v>612</c:v>
                </c:pt>
                <c:pt idx="1">
                  <c:v>655</c:v>
                </c:pt>
                <c:pt idx="2">
                  <c:v>812</c:v>
                </c:pt>
                <c:pt idx="3">
                  <c:v>588</c:v>
                </c:pt>
                <c:pt idx="4">
                  <c:v>641</c:v>
                </c:pt>
                <c:pt idx="5">
                  <c:v>735</c:v>
                </c:pt>
                <c:pt idx="6">
                  <c:v>702</c:v>
                </c:pt>
                <c:pt idx="7">
                  <c:v>748</c:v>
                </c:pt>
                <c:pt idx="8">
                  <c:v>869</c:v>
                </c:pt>
                <c:pt idx="9">
                  <c:v>796</c:v>
                </c:pt>
                <c:pt idx="10">
                  <c:v>841</c:v>
                </c:pt>
                <c:pt idx="11">
                  <c:v>918</c:v>
                </c:pt>
              </c:numCache>
            </c:numRef>
          </c:val>
        </c:ser>
        <c:ser>
          <c:idx val="1"/>
          <c:order val="1"/>
          <c:tx>
            <c:strRef>
              <c:f>Sheet1!$C$1</c:f>
              <c:strCache>
                <c:ptCount val="1"/>
                <c:pt idx="0">
                  <c:v>Expansion</c:v>
                </c:pt>
              </c:strCache>
            </c:strRef>
          </c:tx>
          <c:spPr>
            <a:solidFill>
              <a:srgbClr val="D6DCE4"/>
            </a:solidFill>
          </c:spPr>
          <c:cat>
            <c:strRef>
              <c:f>Sheet1!$A$2:$A$13</c:f>
              <c:strCache>
                <c:ptCount val="12"/>
                <c:pt idx="0">
                  <c:v>Oct</c:v>
                </c:pt>
                <c:pt idx="1">
                  <c:v>Nov</c:v>
                </c:pt>
                <c:pt idx="2">
                  <c:v>Dec</c:v>
                </c:pt>
                <c:pt idx="3">
                  <c:v>Jan</c:v>
                </c:pt>
                <c:pt idx="4">
                  <c:v>Feb</c:v>
                </c:pt>
                <c:pt idx="5">
                  <c:v>Mar</c:v>
                </c:pt>
                <c:pt idx="6">
                  <c:v>Apr</c:v>
                </c:pt>
                <c:pt idx="7">
                  <c:v>May</c:v>
                </c:pt>
                <c:pt idx="8">
                  <c:v>Jun</c:v>
                </c:pt>
                <c:pt idx="9">
                  <c:v>Jul</c:v>
                </c:pt>
                <c:pt idx="10">
                  <c:v>Aug</c:v>
                </c:pt>
                <c:pt idx="11">
                  <c:v>Sep</c:v>
                </c:pt>
              </c:strCache>
            </c:strRef>
          </c:cat>
          <c:val>
            <c:numRef>
              <c:f>Sheet1!$C$2:$C$13</c:f>
              <c:numCache>
                <c:formatCode>General</c:formatCode>
                <c:ptCount val="12"/>
                <c:pt idx="0">
                  <c:v>388</c:v>
                </c:pt>
                <c:pt idx="1">
                  <c:v>402</c:v>
                </c:pt>
                <c:pt idx="2">
                  <c:v>466</c:v>
                </c:pt>
                <c:pt idx="3">
                  <c:v>351</c:v>
                </c:pt>
                <c:pt idx="4">
                  <c:v>397</c:v>
                </c:pt>
                <c:pt idx="5">
                  <c:v>452</c:v>
                </c:pt>
                <c:pt idx="6">
                  <c:v>428</c:v>
                </c:pt>
                <c:pt idx="7">
                  <c:v>461</c:v>
                </c:pt>
                <c:pt idx="8">
                  <c:v>512</c:v>
                </c:pt>
                <c:pt idx="9">
                  <c:v>487</c:v>
                </c:pt>
                <c:pt idx="10">
                  <c:v>524</c:v>
                </c:pt>
                <c:pt idx="11">
                  <c:v>566</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900"/>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900"/>
            </a:pPr>
          </a:p>
        </c:txPr>
        <c:crossAx val="-2068027336"/>
        <c:crosses val="autoZero"/>
      </c:valAx>
    </c:plotArea>
    <c:legend>
      <c:legendPos val="b"/>
      <c:overlay val="0"/>
      <c:txPr>
        <a:bodyPr/>
        <a:lstStyle/>
        <a:p>
          <a:pPr>
            <a:defRPr sz="10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Commission rate on this slide is the workbook value: named range Rate = Inputs!B2 = 10% for Q3 FY2026. Revenue!B5 multiplies billed revenue by that same cell. If the board moves the rate, change the workbook input and let the deck follow. Historical mix percentages in the back of the pack are prior-year context only — leave them alone.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66928" y="658368"/>
            <a:ext cx="11057839" cy="749808"/>
          </a:xfrm>
        </p:spPr>
        <p:txBody>
          <a:bodyPr wrap="square" lIns="0" bIns="0" tIns="0" anchor="b"/>
          <a:lstStyle/>
          <a:p>
            <a:pPr algn="l"/>
            <a:r>
              <a:rPr sz="3400" b="0">
                <a:solidFill>
                  <a:srgbClr val="1F4E79"/>
                </a:solidFill>
                <a:latin typeface="Calibri Light"/>
              </a:rPr>
              <a:t>Northstar Q3 Board Review</a:t>
            </a:r>
          </a:p>
        </p:txBody>
      </p:sp>
      <p:sp>
        <p:nvSpPr>
          <p:cNvPr id="3" name="Body"/>
          <p:cNvSpPr>
            <a:spLocks noGrp="1"/>
          </p:cNvSpPr>
          <p:nvPr>
            <p:ph idx="1"/>
          </p:nvPr>
        </p:nvSpPr>
        <p:spPr>
          <a:xfrm>
            <a:off x="566928" y="1783080"/>
            <a:ext cx="6400800" cy="2834640"/>
          </a:xfrm>
        </p:spPr>
        <p:txBody>
          <a:bodyPr wrap="square" lIns="0" tIns="0"/>
          <a:lstStyle/>
          <a:p>
            <a:pPr>
              <a:spcAft>
                <a:spcPts val="900"/>
              </a:spcAft>
            </a:pPr>
            <a:r>
              <a:rPr sz="1500">
                <a:solidFill>
                  <a:srgbClr val="262626"/>
                </a:solidFill>
                <a:latin typeface="Calibri"/>
              </a:rPr>
              <a:t>ARR closed at $48.9M, up 6.1% in the quarter and 34% year over year.</a:t>
            </a:r>
          </a:p>
          <a:p>
            <a:pPr>
              <a:spcAft>
                <a:spcPts val="900"/>
              </a:spcAft>
            </a:pPr>
            <a:r>
              <a:rPr sz="1500">
                <a:solidFill>
                  <a:srgbClr val="262626"/>
                </a:solidFill>
                <a:latin typeface="Calibri"/>
              </a:rPr>
              <a:t>Net revenue retention 114%; gross margin 81% after the hosting renegotiation.</a:t>
            </a:r>
          </a:p>
          <a:p>
            <a:pPr>
              <a:spcAft>
                <a:spcPts val="900"/>
              </a:spcAft>
            </a:pPr>
            <a:r>
              <a:rPr sz="1500">
                <a:solidFill>
                  <a:srgbClr val="262626"/>
                </a:solidFill>
                <a:latin typeface="Calibri"/>
              </a:rPr>
              <a:t>Q4 weighted pipeline covers the plan 3.1 times.</a:t>
            </a:r>
          </a:p>
          <a:p>
            <a:pPr>
              <a:spcAft>
                <a:spcPts val="900"/>
              </a:spcAft>
            </a:pPr>
            <a:r>
              <a:rPr sz="1500">
                <a:solidFill>
                  <a:srgbClr val="262626"/>
                </a:solidFill>
                <a:latin typeface="Calibri"/>
              </a:rPr>
              <a:t>Every rate on this slide is quoted from the Q3 workbook, not retyped.</a:t>
            </a:r>
          </a:p>
        </p:txBody>
      </p:sp>
      <p:sp>
        <p:nvSpPr>
          <p:cNvPr id="4" name="Rectangle 3"/>
          <p:cNvSpPr/>
          <p:nvPr/>
        </p:nvSpPr>
        <p:spPr>
          <a:xfrm>
            <a:off x="0" y="0"/>
            <a:ext cx="12191695"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0" bIns="0"/>
          <a:lstStyle/>
          <a:p>
            <a:r>
              <a:rPr sz="900" b="1">
                <a:solidFill>
                  <a:srgbClr val="FFFFFF"/>
                </a:solidFill>
                <a:latin typeface="Calibri"/>
              </a:rPr>
              <a:t>NORTHSTAR ANALYTICS   |   FY2026 Q3 BOARD PACK</a:t>
            </a:r>
          </a:p>
        </p:txBody>
      </p:sp>
      <p:sp>
        <p:nvSpPr>
          <p:cNvPr id="5" name="TextBox 4"/>
          <p:cNvSpPr txBox="1"/>
          <p:nvPr/>
        </p:nvSpPr>
        <p:spPr>
          <a:xfrm>
            <a:off x="9997135" y="82296"/>
            <a:ext cx="1627632" cy="219456"/>
          </a:xfrm>
          <a:prstGeom prst="rect">
            <a:avLst/>
          </a:prstGeom>
          <a:noFill/>
        </p:spPr>
        <p:txBody>
          <a:bodyPr wrap="square" lIns="0" rIns="0" tIns="0" bIns="0" anchor="t">
            <a:spAutoFit/>
          </a:bodyPr>
          <a:lstStyle/>
          <a:p>
            <a:pPr algn="r"/>
            <a:r>
              <a:rPr sz="900" b="1" i="0">
                <a:solidFill>
                  <a:srgbClr val="FFF2CC"/>
                </a:solidFill>
                <a:latin typeface="Calibri"/>
              </a:rPr>
              <a:t>CONFIDENTIAL</a:t>
            </a:r>
          </a:p>
        </p:txBody>
      </p:sp>
      <p:sp>
        <p:nvSpPr>
          <p:cNvPr id="6" name="Rectangle 5"/>
          <p:cNvSpPr/>
          <p:nvPr/>
        </p:nvSpPr>
        <p:spPr>
          <a:xfrm>
            <a:off x="566928" y="6272784"/>
            <a:ext cx="11057839"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6382512"/>
            <a:ext cx="7863840" cy="237744"/>
          </a:xfrm>
          <a:prstGeom prst="rect">
            <a:avLst/>
          </a:prstGeom>
          <a:noFill/>
        </p:spPr>
        <p:txBody>
          <a:bodyPr wrap="square" lIns="0" rIns="0" tIns="0" bIns="0" anchor="t">
            <a:spAutoFit/>
          </a:bodyPr>
          <a:lstStyle/>
          <a:p>
            <a:pPr algn="l"/>
            <a:r>
              <a:rPr sz="850" b="0" i="0">
                <a:solidFill>
                  <a:srgbClr val="595959"/>
                </a:solidFill>
                <a:latin typeface="Calibri"/>
              </a:rPr>
              <a:t>Northstar Analytics · prepared by Priya Shah, VP Finance · 17 August 2026</a:t>
            </a:r>
          </a:p>
        </p:txBody>
      </p:sp>
      <p:sp>
        <p:nvSpPr>
          <p:cNvPr id="8" name="TextBox 7"/>
          <p:cNvSpPr txBox="1"/>
          <p:nvPr/>
        </p:nvSpPr>
        <p:spPr>
          <a:xfrm>
            <a:off x="10527487" y="6382512"/>
            <a:ext cx="1097280" cy="237744"/>
          </a:xfrm>
          <a:prstGeom prst="rect">
            <a:avLst/>
          </a:prstGeom>
          <a:noFill/>
        </p:spPr>
        <p:txBody>
          <a:bodyPr wrap="square" lIns="0" rIns="0" tIns="0" bIns="0" anchor="t">
            <a:spAutoFit/>
          </a:bodyPr>
          <a:lstStyle/>
          <a:p>
            <a:pPr algn="r"/>
            <a:r>
              <a:rPr sz="850" b="0" i="0">
                <a:solidFill>
                  <a:srgbClr val="595959"/>
                </a:solidFill>
                <a:latin typeface="Calibri"/>
              </a:rPr>
              <a:t>1</a:t>
            </a:r>
          </a:p>
        </p:txBody>
      </p:sp>
      <p:sp>
        <p:nvSpPr>
          <p:cNvPr id="9" name="TextBox 8"/>
          <p:cNvSpPr txBox="1"/>
          <p:nvPr/>
        </p:nvSpPr>
        <p:spPr>
          <a:xfrm>
            <a:off x="566928" y="429768"/>
            <a:ext cx="11057839" cy="182880"/>
          </a:xfrm>
          <a:prstGeom prst="rect">
            <a:avLst/>
          </a:prstGeom>
          <a:noFill/>
        </p:spPr>
        <p:txBody>
          <a:bodyPr wrap="square" lIns="0" rIns="0" tIns="0" bIns="0" anchor="t">
            <a:spAutoFit/>
          </a:bodyPr>
          <a:lstStyle/>
          <a:p>
            <a:pPr algn="l"/>
            <a:r>
              <a:rPr sz="900" b="1" i="0">
                <a:solidFill>
                  <a:srgbClr val="BF8F00"/>
                </a:solidFill>
                <a:latin typeface="Calibri"/>
              </a:rPr>
              <a:t>FY2026 Q3 BOARD REVIEW</a:t>
            </a:r>
          </a:p>
        </p:txBody>
      </p:sp>
      <p:sp>
        <p:nvSpPr>
          <p:cNvPr id="10" name="Rectangle 9"/>
          <p:cNvSpPr/>
          <p:nvPr/>
        </p:nvSpPr>
        <p:spPr>
          <a:xfrm>
            <a:off x="566928" y="1463040"/>
            <a:ext cx="1051560" cy="3810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618488" y="1463040"/>
            <a:ext cx="10006279" cy="3810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12" name="Metrics"/>
          <p:cNvGraphicFramePr>
            <a:graphicFrameLocks noGrp="1"/>
          </p:cNvGraphicFramePr>
          <p:nvPr/>
        </p:nvGraphicFramePr>
        <p:xfrm>
          <a:off x="7360920" y="1783080"/>
          <a:ext cx="4261103" cy="2084832"/>
        </p:xfrm>
        <a:graphic>
          <a:graphicData uri="http://schemas.openxmlformats.org/drawingml/2006/table">
            <a:tbl>
              <a:tblPr firstRow="1">
                <a:tableStyleId>{5C22544A-7EE6-4342-B048-85BDC9FD1C3A}</a:tableStyleId>
              </a:tblPr>
              <a:tblGrid>
                <a:gridCol w="2641884"/>
                <a:gridCol w="1619219"/>
              </a:tblGrid>
              <a:tr h="347472">
                <a:tc>
                  <a:txBody>
                    <a:bodyPr/>
                    <a:lstStyle/>
                    <a:p>
                      <a:pPr algn="l"/>
                      <a:r>
                        <a:rPr sz="1000" b="1">
                          <a:solidFill>
                            <a:srgbClr val="FFFFFF"/>
                          </a:solidFill>
                          <a:latin typeface="Calibri"/>
                        </a:rPr>
                        <a:t>Metric</a:t>
                      </a:r>
                    </a:p>
                  </a:txBody>
                  <a:tcPr marL="109728" marR="109728" marT="27432" marB="27432" anchor="ctr">
                    <a:solidFill>
                      <a:srgbClr val="1F4E79"/>
                    </a:solidFill>
                  </a:tcPr>
                </a:tc>
                <a:tc>
                  <a:txBody>
                    <a:bodyPr/>
                    <a:lstStyle/>
                    <a:p>
                      <a:pPr algn="r"/>
                      <a:r>
                        <a:rPr sz="1000" b="1">
                          <a:solidFill>
                            <a:srgbClr val="FFFFFF"/>
                          </a:solidFill>
                          <a:latin typeface="Calibri"/>
                        </a:rPr>
                        <a:t>Value</a:t>
                      </a:r>
                    </a:p>
                  </a:txBody>
                  <a:tcPr marL="109728" marR="109728" marT="27432" marB="27432" anchor="ctr">
                    <a:solidFill>
                      <a:srgbClr val="1F4E79"/>
                    </a:solidFill>
                  </a:tcPr>
                </a:tc>
              </a:tr>
              <a:tr h="347472">
                <a:tc>
                  <a:txBody>
                    <a:bodyPr/>
                    <a:lstStyle/>
                    <a:p>
                      <a:pPr algn="l"/>
                      <a:r>
                        <a:rPr sz="1100" b="0">
                          <a:solidFill>
                            <a:srgbClr val="262626"/>
                          </a:solidFill>
                          <a:latin typeface="Calibri"/>
                        </a:rPr>
                        <a:t>NPS</a:t>
                      </a:r>
                    </a:p>
                  </a:txBody>
                  <a:tcPr marL="109728" marR="109728" marT="27432" marB="27432" anchor="ctr">
                    <a:solidFill>
                      <a:srgbClr val="FFFFFF"/>
                    </a:solidFill>
                  </a:tcPr>
                </a:tc>
                <a:tc>
                  <a:txBody>
                    <a:bodyPr/>
                    <a:lstStyle/>
                    <a:p>
                      <a:pPr algn="r"/>
                      <a:r>
                        <a:rPr sz="1100" b="0">
                          <a:solidFill>
                            <a:srgbClr val="262626"/>
                          </a:solidFill>
                          <a:latin typeface="Calibri"/>
                        </a:rPr>
                        <a:t>42</a:t>
                      </a:r>
                    </a:p>
                  </a:txBody>
                  <a:tcPr marL="109728" marR="109728" marT="27432" marB="27432" anchor="ctr">
                    <a:solidFill>
                      <a:srgbClr val="FFFFFF"/>
                    </a:solidFill>
                  </a:tcPr>
                </a:tc>
              </a:tr>
              <a:tr h="347472">
                <a:tc>
                  <a:txBody>
                    <a:bodyPr/>
                    <a:lstStyle/>
                    <a:p>
                      <a:pPr algn="l"/>
                      <a:r>
                        <a:rPr sz="1100" b="0">
                          <a:solidFill>
                            <a:srgbClr val="262626"/>
                          </a:solidFill>
                          <a:latin typeface="Calibri"/>
                        </a:rPr>
                        <a:t>ARR</a:t>
                      </a:r>
                    </a:p>
                  </a:txBody>
                  <a:tcPr marL="109728" marR="109728" marT="27432" marB="27432" anchor="ctr">
                    <a:solidFill>
                      <a:srgbClr val="EFF2F6"/>
                    </a:solidFill>
                  </a:tcPr>
                </a:tc>
                <a:tc>
                  <a:txBody>
                    <a:bodyPr/>
                    <a:lstStyle/>
                    <a:p>
                      <a:pPr algn="r"/>
                      <a:r>
                        <a:rPr sz="1100" b="0">
                          <a:solidFill>
                            <a:srgbClr val="262626"/>
                          </a:solidFill>
                          <a:latin typeface="Calibri"/>
                        </a:rPr>
                        <a:t>$48.9M</a:t>
                      </a:r>
                    </a:p>
                  </a:txBody>
                  <a:tcPr marL="109728" marR="109728" marT="27432" marB="27432" anchor="ctr">
                    <a:solidFill>
                      <a:srgbClr val="EFF2F6"/>
                    </a:solidFill>
                  </a:tcPr>
                </a:tc>
              </a:tr>
              <a:tr h="347472">
                <a:tc>
                  <a:txBody>
                    <a:bodyPr/>
                    <a:lstStyle/>
                    <a:p>
                      <a:pPr algn="l"/>
                      <a:r>
                        <a:rPr sz="1100" b="0">
                          <a:solidFill>
                            <a:srgbClr val="262626"/>
                          </a:solidFill>
                          <a:latin typeface="Calibri"/>
                        </a:rPr>
                        <a:t>NRR</a:t>
                      </a:r>
                    </a:p>
                  </a:txBody>
                  <a:tcPr marL="109728" marR="109728" marT="27432" marB="27432" anchor="ctr">
                    <a:solidFill>
                      <a:srgbClr val="FFFFFF"/>
                    </a:solidFill>
                  </a:tcPr>
                </a:tc>
                <a:tc>
                  <a:txBody>
                    <a:bodyPr/>
                    <a:lstStyle/>
                    <a:p>
                      <a:pPr algn="r"/>
                      <a:r>
                        <a:rPr sz="1100" b="0">
                          <a:solidFill>
                            <a:srgbClr val="262626"/>
                          </a:solidFill>
                          <a:latin typeface="Calibri"/>
                        </a:rPr>
                        <a:t>114%</a:t>
                      </a:r>
                    </a:p>
                  </a:txBody>
                  <a:tcPr marL="109728" marR="109728" marT="27432" marB="27432" anchor="ctr">
                    <a:solidFill>
                      <a:srgbClr val="FFFFFF"/>
                    </a:solidFill>
                  </a:tcPr>
                </a:tc>
              </a:tr>
              <a:tr h="347472">
                <a:tc>
                  <a:txBody>
                    <a:bodyPr/>
                    <a:lstStyle/>
                    <a:p>
                      <a:pPr algn="l"/>
                      <a:r>
                        <a:rPr sz="1100" b="0">
                          <a:solidFill>
                            <a:srgbClr val="262626"/>
                          </a:solidFill>
                          <a:latin typeface="Calibri"/>
                        </a:rPr>
                        <a:t>Net new ARR</a:t>
                      </a:r>
                    </a:p>
                  </a:txBody>
                  <a:tcPr marL="109728" marR="109728" marT="27432" marB="27432" anchor="ctr">
                    <a:solidFill>
                      <a:srgbClr val="EFF2F6"/>
                    </a:solidFill>
                  </a:tcPr>
                </a:tc>
                <a:tc>
                  <a:txBody>
                    <a:bodyPr/>
                    <a:lstStyle/>
                    <a:p>
                      <a:pPr algn="r"/>
                      <a:r>
                        <a:rPr sz="1100" b="0">
                          <a:solidFill>
                            <a:srgbClr val="262626"/>
                          </a:solidFill>
                          <a:latin typeface="Calibri"/>
                        </a:rPr>
                        <a:t>$2.8M</a:t>
                      </a:r>
                    </a:p>
                  </a:txBody>
                  <a:tcPr marL="109728" marR="109728" marT="27432" marB="27432" anchor="ctr">
                    <a:solidFill>
                      <a:srgbClr val="EFF2F6"/>
                    </a:solidFill>
                  </a:tcPr>
                </a:tc>
              </a:tr>
              <a:tr h="347472">
                <a:tc>
                  <a:txBody>
                    <a:bodyPr/>
                    <a:lstStyle/>
                    <a:p>
                      <a:pPr algn="l"/>
                      <a:r>
                        <a:rPr sz="1100" b="0">
                          <a:solidFill>
                            <a:srgbClr val="262626"/>
                          </a:solidFill>
                          <a:latin typeface="Calibri"/>
                        </a:rPr>
                        <a:t>Gross margin</a:t>
                      </a:r>
                    </a:p>
                  </a:txBody>
                  <a:tcPr marL="109728" marR="109728" marT="27432" marB="27432" anchor="ctr">
                    <a:solidFill>
                      <a:srgbClr val="FFFFFF"/>
                    </a:solidFill>
                  </a:tcPr>
                </a:tc>
                <a:tc>
                  <a:txBody>
                    <a:bodyPr/>
                    <a:lstStyle/>
                    <a:p>
                      <a:pPr algn="r"/>
                      <a:r>
                        <a:rPr sz="1100" b="0">
                          <a:solidFill>
                            <a:srgbClr val="262626"/>
                          </a:solidFill>
                          <a:latin typeface="Calibri"/>
                        </a:rPr>
                        <a:t>81%</a:t>
                      </a:r>
                    </a:p>
                  </a:txBody>
                  <a:tcPr marL="109728" marR="109728" marT="27432" marB="27432" anchor="ctr">
                    <a:solidFill>
                      <a:srgbClr val="FFFFFF"/>
                    </a:solidFill>
                  </a:tcPr>
                </a:tc>
              </a:tr>
            </a:tbl>
          </a:graphicData>
        </a:graphic>
      </p:graphicFrame>
      <p:sp>
        <p:nvSpPr>
          <p:cNvPr id="13" name="KPI"/>
          <p:cNvSpPr/>
          <p:nvPr/>
        </p:nvSpPr>
        <p:spPr>
          <a:xfrm>
            <a:off x="7360920" y="4663440"/>
            <a:ext cx="4261104" cy="566928"/>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r>
              <a:rPr sz="1600" b="1">
                <a:solidFill>
                  <a:srgbClr val="17395A"/>
                </a:solidFill>
                <a:latin typeface="Calibri"/>
              </a:rPr>
              <a:t>Q3 commission 10%</a:t>
            </a:r>
          </a:p>
        </p:txBody>
      </p:sp>
      <p:sp>
        <p:nvSpPr>
          <p:cNvPr id="14" name="Rectangle 13"/>
          <p:cNvSpPr/>
          <p:nvPr/>
        </p:nvSpPr>
        <p:spPr>
          <a:xfrm>
            <a:off x="7360920" y="4663440"/>
            <a:ext cx="44450" cy="56692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360920" y="5285232"/>
            <a:ext cx="4261104" cy="237744"/>
          </a:xfrm>
          <a:prstGeom prst="rect">
            <a:avLst/>
          </a:prstGeom>
          <a:noFill/>
        </p:spPr>
        <p:txBody>
          <a:bodyPr wrap="square" lIns="0" rIns="0" tIns="0" bIns="0" anchor="t">
            <a:spAutoFit/>
          </a:bodyPr>
          <a:lstStyle/>
          <a:p>
            <a:pPr algn="l"/>
            <a:r>
              <a:rPr sz="900" b="0" i="1">
                <a:solidFill>
                  <a:srgbClr val="595959"/>
                </a:solidFill>
                <a:latin typeface="Calibri"/>
              </a:rPr>
              <a:t>Live from workbook named range Rate</a:t>
            </a:r>
          </a:p>
        </p:txBody>
      </p:sp>
      <p:sp>
        <p:nvSpPr>
          <p:cNvPr id="16" name="Rectangle 15"/>
          <p:cNvSpPr/>
          <p:nvPr/>
        </p:nvSpPr>
        <p:spPr>
          <a:xfrm>
            <a:off x="566928" y="5614416"/>
            <a:ext cx="11057839" cy="530352"/>
          </a:xfrm>
          <a:prstGeom prst="rect">
            <a:avLst/>
          </a:prstGeom>
          <a:solidFill>
            <a:srgbClr val="EF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a:lstStyle/>
          <a:p>
            <a:r>
              <a:rPr sz="1000" b="1">
                <a:solidFill>
                  <a:srgbClr val="1F4E79"/>
                </a:solidFill>
                <a:latin typeface="Calibri"/>
              </a:rPr>
              <a:t>So what   </a:t>
            </a:r>
            <a:r>
              <a:rPr sz="1150">
                <a:solidFill>
                  <a:srgbClr val="262626"/>
                </a:solidFill>
                <a:latin typeface="Calibri"/>
              </a:rPr>
              <a:t>Strong quarter on growth and margin; the commission rate is the one number the board sets today.</a:t>
            </a:r>
          </a:p>
        </p:txBody>
      </p:sp>
      <p:sp>
        <p:nvSpPr>
          <p:cNvPr id="17" name="Rectangle 16"/>
          <p:cNvSpPr/>
          <p:nvPr/>
        </p:nvSpPr>
        <p:spPr>
          <a:xfrm>
            <a:off x="566928" y="5614416"/>
            <a:ext cx="44450" cy="53035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66928" y="658368"/>
            <a:ext cx="11057839" cy="749808"/>
          </a:xfrm>
        </p:spPr>
        <p:txBody>
          <a:bodyPr wrap="square" lIns="0" bIns="0" tIns="0" anchor="b"/>
          <a:lstStyle/>
          <a:p>
            <a:pPr algn="l"/>
            <a:r>
              <a:rPr sz="3000" b="0">
                <a:solidFill>
                  <a:srgbClr val="1F4E79"/>
                </a:solidFill>
                <a:latin typeface="Calibri Light"/>
              </a:rPr>
              <a:t>Agenda</a:t>
            </a:r>
          </a:p>
        </p:txBody>
      </p:sp>
      <p:sp>
        <p:nvSpPr>
          <p:cNvPr id="3" name="Body"/>
          <p:cNvSpPr>
            <a:spLocks noGrp="1"/>
          </p:cNvSpPr>
          <p:nvPr>
            <p:ph idx="1"/>
          </p:nvPr>
        </p:nvSpPr>
        <p:spPr>
          <a:xfrm>
            <a:off x="566928" y="1783080"/>
            <a:ext cx="11057839" cy="3566160"/>
          </a:xfrm>
        </p:spPr>
        <p:txBody>
          <a:bodyPr wrap="square" lIns="0" tIns="0"/>
          <a:lstStyle/>
          <a:p>
            <a:pPr>
              <a:spcAft>
                <a:spcPts val="900"/>
              </a:spcAft>
            </a:pPr>
            <a:r>
              <a:rPr sz="1500">
                <a:solidFill>
                  <a:srgbClr val="262626"/>
                </a:solidFill>
                <a:latin typeface="Calibri"/>
              </a:rPr>
              <a:t>Quarter in review — ARR bridge, retention, margin</a:t>
            </a:r>
          </a:p>
          <a:p>
            <a:pPr>
              <a:spcAft>
                <a:spcPts val="900"/>
              </a:spcAft>
            </a:pPr>
            <a:r>
              <a:rPr sz="1500">
                <a:solidFill>
                  <a:srgbClr val="262626"/>
                </a:solidFill>
                <a:latin typeface="Calibri"/>
              </a:rPr>
              <a:t>Pipeline and Q4 coverage</a:t>
            </a:r>
          </a:p>
          <a:p>
            <a:pPr>
              <a:spcAft>
                <a:spcPts val="900"/>
              </a:spcAft>
            </a:pPr>
            <a:r>
              <a:rPr sz="1500">
                <a:solidFill>
                  <a:srgbClr val="262626"/>
                </a:solidFill>
                <a:latin typeface="Calibri"/>
              </a:rPr>
              <a:t>Go-to-market efficiency</a:t>
            </a:r>
          </a:p>
          <a:p>
            <a:pPr>
              <a:spcAft>
                <a:spcPts val="900"/>
              </a:spcAft>
            </a:pPr>
            <a:r>
              <a:rPr sz="1500">
                <a:solidFill>
                  <a:srgbClr val="262626"/>
                </a:solidFill>
                <a:latin typeface="Calibri"/>
              </a:rPr>
              <a:t>Headcount and operating expense</a:t>
            </a:r>
          </a:p>
          <a:p>
            <a:pPr>
              <a:spcAft>
                <a:spcPts val="900"/>
              </a:spcAft>
            </a:pPr>
            <a:r>
              <a:rPr sz="1500">
                <a:solidFill>
                  <a:srgbClr val="262626"/>
                </a:solidFill>
                <a:latin typeface="Calibri"/>
              </a:rPr>
              <a:t>Risks and mitigations</a:t>
            </a:r>
          </a:p>
          <a:p>
            <a:pPr>
              <a:spcAft>
                <a:spcPts val="900"/>
              </a:spcAft>
            </a:pPr>
            <a:r>
              <a:rPr sz="1500">
                <a:solidFill>
                  <a:srgbClr val="262626"/>
                </a:solidFill>
                <a:latin typeface="Calibri"/>
              </a:rPr>
              <a:t>The ask, then appendix</a:t>
            </a:r>
          </a:p>
        </p:txBody>
      </p:sp>
      <p:sp>
        <p:nvSpPr>
          <p:cNvPr id="4" name="Rectangle 3"/>
          <p:cNvSpPr/>
          <p:nvPr/>
        </p:nvSpPr>
        <p:spPr>
          <a:xfrm>
            <a:off x="0" y="0"/>
            <a:ext cx="12191695"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0" bIns="0"/>
          <a:lstStyle/>
          <a:p>
            <a:r>
              <a:rPr sz="900" b="1">
                <a:solidFill>
                  <a:srgbClr val="FFFFFF"/>
                </a:solidFill>
                <a:latin typeface="Calibri"/>
              </a:rPr>
              <a:t>NORTHSTAR ANALYTICS   |   FY2026 Q3 BOARD PACK</a:t>
            </a:r>
          </a:p>
        </p:txBody>
      </p:sp>
      <p:sp>
        <p:nvSpPr>
          <p:cNvPr id="5" name="TextBox 4"/>
          <p:cNvSpPr txBox="1"/>
          <p:nvPr/>
        </p:nvSpPr>
        <p:spPr>
          <a:xfrm>
            <a:off x="9997135" y="82296"/>
            <a:ext cx="1627632" cy="219456"/>
          </a:xfrm>
          <a:prstGeom prst="rect">
            <a:avLst/>
          </a:prstGeom>
          <a:noFill/>
        </p:spPr>
        <p:txBody>
          <a:bodyPr wrap="square" lIns="0" rIns="0" tIns="0" bIns="0" anchor="t">
            <a:spAutoFit/>
          </a:bodyPr>
          <a:lstStyle/>
          <a:p>
            <a:pPr algn="r"/>
            <a:r>
              <a:rPr sz="900" b="1" i="0">
                <a:solidFill>
                  <a:srgbClr val="FFF2CC"/>
                </a:solidFill>
                <a:latin typeface="Calibri"/>
              </a:rPr>
              <a:t>CONFIDENTIAL</a:t>
            </a:r>
          </a:p>
        </p:txBody>
      </p:sp>
      <p:sp>
        <p:nvSpPr>
          <p:cNvPr id="6" name="Rectangle 5"/>
          <p:cNvSpPr/>
          <p:nvPr/>
        </p:nvSpPr>
        <p:spPr>
          <a:xfrm>
            <a:off x="566928" y="6272784"/>
            <a:ext cx="11057839"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6382512"/>
            <a:ext cx="7863840" cy="237744"/>
          </a:xfrm>
          <a:prstGeom prst="rect">
            <a:avLst/>
          </a:prstGeom>
          <a:noFill/>
        </p:spPr>
        <p:txBody>
          <a:bodyPr wrap="square" lIns="0" rIns="0" tIns="0" bIns="0" anchor="t">
            <a:spAutoFit/>
          </a:bodyPr>
          <a:lstStyle/>
          <a:p>
            <a:pPr algn="l"/>
            <a:r>
              <a:rPr sz="850" b="0" i="0">
                <a:solidFill>
                  <a:srgbClr val="595959"/>
                </a:solidFill>
                <a:latin typeface="Calibri"/>
              </a:rPr>
              <a:t>Northstar Analytics · prepared by Priya Shah, VP Finance · 17 August 2026</a:t>
            </a:r>
          </a:p>
        </p:txBody>
      </p:sp>
      <p:sp>
        <p:nvSpPr>
          <p:cNvPr id="8" name="TextBox 7"/>
          <p:cNvSpPr txBox="1"/>
          <p:nvPr/>
        </p:nvSpPr>
        <p:spPr>
          <a:xfrm>
            <a:off x="10527487" y="6382512"/>
            <a:ext cx="1097280" cy="237744"/>
          </a:xfrm>
          <a:prstGeom prst="rect">
            <a:avLst/>
          </a:prstGeom>
          <a:noFill/>
        </p:spPr>
        <p:txBody>
          <a:bodyPr wrap="square" lIns="0" rIns="0" tIns="0" bIns="0" anchor="t">
            <a:spAutoFit/>
          </a:bodyPr>
          <a:lstStyle/>
          <a:p>
            <a:pPr algn="r"/>
            <a:r>
              <a:rPr sz="850" b="0" i="0">
                <a:solidFill>
                  <a:srgbClr val="595959"/>
                </a:solidFill>
                <a:latin typeface="Calibri"/>
              </a:rPr>
              <a:t>2</a:t>
            </a:r>
          </a:p>
        </p:txBody>
      </p:sp>
      <p:sp>
        <p:nvSpPr>
          <p:cNvPr id="9" name="Rectangle 8"/>
          <p:cNvSpPr/>
          <p:nvPr/>
        </p:nvSpPr>
        <p:spPr>
          <a:xfrm>
            <a:off x="566928" y="1463040"/>
            <a:ext cx="1051560" cy="3810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618488" y="1463040"/>
            <a:ext cx="10006279" cy="3810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5541264"/>
            <a:ext cx="11057839" cy="566928"/>
          </a:xfrm>
          <a:prstGeom prst="rect">
            <a:avLst/>
          </a:prstGeom>
          <a:solidFill>
            <a:srgbClr val="EF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a:lstStyle/>
          <a:p>
            <a:r>
              <a:rPr sz="1000" b="1">
                <a:solidFill>
                  <a:srgbClr val="1F4E79"/>
                </a:solidFill>
                <a:latin typeface="Calibri"/>
              </a:rPr>
              <a:t>So what   </a:t>
            </a:r>
            <a:r>
              <a:rPr sz="1150">
                <a:solidFill>
                  <a:srgbClr val="262626"/>
                </a:solidFill>
                <a:latin typeface="Calibri"/>
              </a:rPr>
              <a:t>Decisions are on slide 8; the appendix is prior-year reference only.</a:t>
            </a:r>
          </a:p>
        </p:txBody>
      </p:sp>
      <p:sp>
        <p:nvSpPr>
          <p:cNvPr id="12" name="Rectangle 11"/>
          <p:cNvSpPr/>
          <p:nvPr/>
        </p:nvSpPr>
        <p:spPr>
          <a:xfrm>
            <a:off x="566928" y="5541264"/>
            <a:ext cx="4445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66928" y="658368"/>
            <a:ext cx="11057839" cy="749808"/>
          </a:xfrm>
        </p:spPr>
        <p:txBody>
          <a:bodyPr wrap="square" lIns="0" bIns="0" tIns="0" anchor="b"/>
          <a:lstStyle/>
          <a:p>
            <a:pPr algn="l"/>
            <a:r>
              <a:rPr sz="3000" b="0">
                <a:solidFill>
                  <a:srgbClr val="1F4E79"/>
                </a:solidFill>
                <a:latin typeface="Calibri Light"/>
              </a:rPr>
              <a:t>ARR bridge — FY2026 by month</a:t>
            </a:r>
          </a:p>
        </p:txBody>
      </p:sp>
      <p:sp>
        <p:nvSpPr>
          <p:cNvPr id="3" name="Body"/>
          <p:cNvSpPr>
            <a:spLocks noGrp="1"/>
          </p:cNvSpPr>
          <p:nvPr>
            <p:ph idx="1"/>
          </p:nvPr>
        </p:nvSpPr>
        <p:spPr>
          <a:xfrm>
            <a:off x="566928" y="1783080"/>
            <a:ext cx="11057839" cy="1097280"/>
          </a:xfrm>
        </p:spPr>
        <p:txBody>
          <a:bodyPr wrap="square" lIns="0" tIns="0"/>
          <a:lstStyle/>
          <a:p>
            <a:pPr>
              <a:spcAft>
                <a:spcPts val="900"/>
              </a:spcAft>
            </a:pPr>
            <a:r>
              <a:rPr sz="1350">
                <a:solidFill>
                  <a:srgbClr val="262626"/>
                </a:solidFill>
                <a:latin typeface="Calibri"/>
              </a:rPr>
              <a:t>New business added $9.3M of ARR across the year; expansion added $5.4M.</a:t>
            </a:r>
          </a:p>
          <a:p>
            <a:pPr>
              <a:spcAft>
                <a:spcPts val="900"/>
              </a:spcAft>
            </a:pPr>
            <a:r>
              <a:rPr sz="1350">
                <a:solidFill>
                  <a:srgbClr val="262626"/>
                </a:solidFill>
                <a:latin typeface="Calibri"/>
              </a:rPr>
              <a:t>Contraction and churn cost $4.1M, weighted to SMB.</a:t>
            </a:r>
          </a:p>
          <a:p>
            <a:pPr>
              <a:spcAft>
                <a:spcPts val="900"/>
              </a:spcAft>
            </a:pPr>
            <a:r>
              <a:rPr sz="1350">
                <a:solidFill>
                  <a:srgbClr val="262626"/>
                </a:solidFill>
                <a:latin typeface="Calibri"/>
              </a:rPr>
              <a:t>September was the strongest month on both new and expansion.</a:t>
            </a:r>
          </a:p>
        </p:txBody>
      </p:sp>
      <p:sp>
        <p:nvSpPr>
          <p:cNvPr id="4" name="Rectangle 3"/>
          <p:cNvSpPr/>
          <p:nvPr/>
        </p:nvSpPr>
        <p:spPr>
          <a:xfrm>
            <a:off x="0" y="0"/>
            <a:ext cx="12191695"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0" bIns="0"/>
          <a:lstStyle/>
          <a:p>
            <a:r>
              <a:rPr sz="900" b="1">
                <a:solidFill>
                  <a:srgbClr val="FFFFFF"/>
                </a:solidFill>
                <a:latin typeface="Calibri"/>
              </a:rPr>
              <a:t>NORTHSTAR ANALYTICS   |   FY2026 Q3 BOARD PACK</a:t>
            </a:r>
          </a:p>
        </p:txBody>
      </p:sp>
      <p:sp>
        <p:nvSpPr>
          <p:cNvPr id="5" name="TextBox 4"/>
          <p:cNvSpPr txBox="1"/>
          <p:nvPr/>
        </p:nvSpPr>
        <p:spPr>
          <a:xfrm>
            <a:off x="9997135" y="82296"/>
            <a:ext cx="1627632" cy="219456"/>
          </a:xfrm>
          <a:prstGeom prst="rect">
            <a:avLst/>
          </a:prstGeom>
          <a:noFill/>
        </p:spPr>
        <p:txBody>
          <a:bodyPr wrap="square" lIns="0" rIns="0" tIns="0" bIns="0" anchor="t">
            <a:spAutoFit/>
          </a:bodyPr>
          <a:lstStyle/>
          <a:p>
            <a:pPr algn="r"/>
            <a:r>
              <a:rPr sz="900" b="1" i="0">
                <a:solidFill>
                  <a:srgbClr val="FFF2CC"/>
                </a:solidFill>
                <a:latin typeface="Calibri"/>
              </a:rPr>
              <a:t>CONFIDENTIAL</a:t>
            </a:r>
          </a:p>
        </p:txBody>
      </p:sp>
      <p:sp>
        <p:nvSpPr>
          <p:cNvPr id="6" name="Rectangle 5"/>
          <p:cNvSpPr/>
          <p:nvPr/>
        </p:nvSpPr>
        <p:spPr>
          <a:xfrm>
            <a:off x="566928" y="6272784"/>
            <a:ext cx="11057839"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6382512"/>
            <a:ext cx="7863840" cy="237744"/>
          </a:xfrm>
          <a:prstGeom prst="rect">
            <a:avLst/>
          </a:prstGeom>
          <a:noFill/>
        </p:spPr>
        <p:txBody>
          <a:bodyPr wrap="square" lIns="0" rIns="0" tIns="0" bIns="0" anchor="t">
            <a:spAutoFit/>
          </a:bodyPr>
          <a:lstStyle/>
          <a:p>
            <a:pPr algn="l"/>
            <a:r>
              <a:rPr sz="850" b="0" i="0">
                <a:solidFill>
                  <a:srgbClr val="595959"/>
                </a:solidFill>
                <a:latin typeface="Calibri"/>
              </a:rPr>
              <a:t>Northstar Analytics · prepared by Priya Shah, VP Finance · 17 August 2026</a:t>
            </a:r>
          </a:p>
        </p:txBody>
      </p:sp>
      <p:sp>
        <p:nvSpPr>
          <p:cNvPr id="8" name="TextBox 7"/>
          <p:cNvSpPr txBox="1"/>
          <p:nvPr/>
        </p:nvSpPr>
        <p:spPr>
          <a:xfrm>
            <a:off x="10527487" y="6382512"/>
            <a:ext cx="1097280" cy="237744"/>
          </a:xfrm>
          <a:prstGeom prst="rect">
            <a:avLst/>
          </a:prstGeom>
          <a:noFill/>
        </p:spPr>
        <p:txBody>
          <a:bodyPr wrap="square" lIns="0" rIns="0" tIns="0" bIns="0" anchor="t">
            <a:spAutoFit/>
          </a:bodyPr>
          <a:lstStyle/>
          <a:p>
            <a:pPr algn="r"/>
            <a:r>
              <a:rPr sz="850" b="0" i="0">
                <a:solidFill>
                  <a:srgbClr val="595959"/>
                </a:solidFill>
                <a:latin typeface="Calibri"/>
              </a:rPr>
              <a:t>3</a:t>
            </a:r>
          </a:p>
        </p:txBody>
      </p:sp>
      <p:sp>
        <p:nvSpPr>
          <p:cNvPr id="9" name="TextBox 8"/>
          <p:cNvSpPr txBox="1"/>
          <p:nvPr/>
        </p:nvSpPr>
        <p:spPr>
          <a:xfrm>
            <a:off x="566928" y="429768"/>
            <a:ext cx="11057839" cy="182880"/>
          </a:xfrm>
          <a:prstGeom prst="rect">
            <a:avLst/>
          </a:prstGeom>
          <a:noFill/>
        </p:spPr>
        <p:txBody>
          <a:bodyPr wrap="square" lIns="0" rIns="0" tIns="0" bIns="0" anchor="t">
            <a:spAutoFit/>
          </a:bodyPr>
          <a:lstStyle/>
          <a:p>
            <a:pPr algn="l"/>
            <a:r>
              <a:rPr sz="900" b="1" i="0">
                <a:solidFill>
                  <a:srgbClr val="BF8F00"/>
                </a:solidFill>
                <a:latin typeface="Calibri"/>
              </a:rPr>
              <a:t>QUARTER IN REVIEW</a:t>
            </a:r>
          </a:p>
        </p:txBody>
      </p:sp>
      <p:sp>
        <p:nvSpPr>
          <p:cNvPr id="10" name="Rectangle 9"/>
          <p:cNvSpPr/>
          <p:nvPr/>
        </p:nvSpPr>
        <p:spPr>
          <a:xfrm>
            <a:off x="566928" y="1463040"/>
            <a:ext cx="1051560" cy="3810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618488" y="1463040"/>
            <a:ext cx="10006279" cy="3810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12" name="ARRChart"/>
          <p:cNvGraphicFramePr>
            <a:graphicFrameLocks noGrp="1"/>
          </p:cNvGraphicFramePr>
          <p:nvPr/>
        </p:nvGraphicFramePr>
        <p:xfrm>
          <a:off x="566928" y="2971800"/>
          <a:ext cx="11057839" cy="2377440"/>
        </p:xfrm>
        <a:graphic>
          <a:graphicData uri="http://schemas.openxmlformats.org/drawingml/2006/chart">
            <c:chart xmlns:c="http://schemas.openxmlformats.org/drawingml/2006/chart" r:id="rId2"/>
          </a:graphicData>
        </a:graphic>
      </p:graphicFrame>
      <p:sp>
        <p:nvSpPr>
          <p:cNvPr id="13" name="Rectangle 12"/>
          <p:cNvSpPr/>
          <p:nvPr/>
        </p:nvSpPr>
        <p:spPr>
          <a:xfrm>
            <a:off x="566928" y="5541264"/>
            <a:ext cx="11057839" cy="566928"/>
          </a:xfrm>
          <a:prstGeom prst="rect">
            <a:avLst/>
          </a:prstGeom>
          <a:solidFill>
            <a:srgbClr val="EF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a:lstStyle/>
          <a:p>
            <a:r>
              <a:rPr sz="1000" b="1">
                <a:solidFill>
                  <a:srgbClr val="1F4E79"/>
                </a:solidFill>
                <a:latin typeface="Calibri"/>
              </a:rPr>
              <a:t>So what   </a:t>
            </a:r>
            <a:r>
              <a:rPr sz="1150">
                <a:solidFill>
                  <a:srgbClr val="262626"/>
                </a:solidFill>
                <a:latin typeface="Calibri"/>
              </a:rPr>
              <a:t>Net new ARR accelerated through the year; the churn line is what caps it.</a:t>
            </a:r>
          </a:p>
        </p:txBody>
      </p:sp>
      <p:sp>
        <p:nvSpPr>
          <p:cNvPr id="14" name="Rectangle 13"/>
          <p:cNvSpPr/>
          <p:nvPr/>
        </p:nvSpPr>
        <p:spPr>
          <a:xfrm>
            <a:off x="566928" y="5541264"/>
            <a:ext cx="4445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66928" y="658368"/>
            <a:ext cx="11057839" cy="749808"/>
          </a:xfrm>
        </p:spPr>
        <p:txBody>
          <a:bodyPr wrap="square" lIns="0" bIns="0" tIns="0" anchor="b"/>
          <a:lstStyle/>
          <a:p>
            <a:pPr algn="l"/>
            <a:r>
              <a:rPr sz="3000" b="0">
                <a:solidFill>
                  <a:srgbClr val="1F4E79"/>
                </a:solidFill>
                <a:latin typeface="Calibri Light"/>
              </a:rPr>
              <a:t>Net revenue retention</a:t>
            </a:r>
          </a:p>
        </p:txBody>
      </p:sp>
      <p:sp>
        <p:nvSpPr>
          <p:cNvPr id="3" name="Body"/>
          <p:cNvSpPr>
            <a:spLocks noGrp="1"/>
          </p:cNvSpPr>
          <p:nvPr>
            <p:ph idx="1"/>
          </p:nvPr>
        </p:nvSpPr>
        <p:spPr>
          <a:xfrm>
            <a:off x="566928" y="1783080"/>
            <a:ext cx="11057839" cy="3566160"/>
          </a:xfrm>
        </p:spPr>
        <p:txBody>
          <a:bodyPr wrap="square" lIns="0" tIns="0"/>
          <a:lstStyle/>
          <a:p>
            <a:pPr>
              <a:spcAft>
                <a:spcPts val="900"/>
              </a:spcAft>
            </a:pPr>
            <a:r>
              <a:rPr sz="1500">
                <a:solidFill>
                  <a:srgbClr val="262626"/>
                </a:solidFill>
                <a:latin typeface="Calibri"/>
              </a:rPr>
              <a:t>NRR 114% overall; 122% in the &gt;$25k cohort, 96% in SMB.</a:t>
            </a:r>
          </a:p>
          <a:p>
            <a:pPr>
              <a:spcAft>
                <a:spcPts val="900"/>
              </a:spcAft>
            </a:pPr>
            <a:r>
              <a:rPr sz="1500">
                <a:solidFill>
                  <a:srgbClr val="262626"/>
                </a:solidFill>
                <a:latin typeface="Calibri"/>
              </a:rPr>
              <a:t>Expansion is driven by seat growth in Warehouse Connect and the alerts add-on.</a:t>
            </a:r>
          </a:p>
          <a:p>
            <a:pPr lvl="1">
              <a:spcAft>
                <a:spcPts val="900"/>
              </a:spcAft>
            </a:pPr>
            <a:r>
              <a:rPr sz="1350">
                <a:solidFill>
                  <a:srgbClr val="595959"/>
                </a:solidFill>
                <a:latin typeface="Calibri"/>
              </a:rPr>
              <a:t>SMB downgrades cluster at the twelve-month mark — a packaging problem, not a product problem.</a:t>
            </a:r>
          </a:p>
          <a:p>
            <a:pPr>
              <a:spcAft>
                <a:spcPts val="900"/>
              </a:spcAft>
            </a:pPr>
            <a:r>
              <a:rPr sz="1500">
                <a:solidFill>
                  <a:srgbClr val="262626"/>
                </a:solidFill>
                <a:latin typeface="Calibri"/>
              </a:rPr>
              <a:t>Enterprise gross retention is 97.9%, the best four quarters on record.</a:t>
            </a:r>
          </a:p>
        </p:txBody>
      </p:sp>
      <p:sp>
        <p:nvSpPr>
          <p:cNvPr id="4" name="Rectangle 3"/>
          <p:cNvSpPr/>
          <p:nvPr/>
        </p:nvSpPr>
        <p:spPr>
          <a:xfrm>
            <a:off x="0" y="0"/>
            <a:ext cx="12191695"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0" bIns="0"/>
          <a:lstStyle/>
          <a:p>
            <a:r>
              <a:rPr sz="900" b="1">
                <a:solidFill>
                  <a:srgbClr val="FFFFFF"/>
                </a:solidFill>
                <a:latin typeface="Calibri"/>
              </a:rPr>
              <a:t>NORTHSTAR ANALYTICS   |   FY2026 Q3 BOARD PACK</a:t>
            </a:r>
          </a:p>
        </p:txBody>
      </p:sp>
      <p:sp>
        <p:nvSpPr>
          <p:cNvPr id="5" name="TextBox 4"/>
          <p:cNvSpPr txBox="1"/>
          <p:nvPr/>
        </p:nvSpPr>
        <p:spPr>
          <a:xfrm>
            <a:off x="9997135" y="82296"/>
            <a:ext cx="1627632" cy="219456"/>
          </a:xfrm>
          <a:prstGeom prst="rect">
            <a:avLst/>
          </a:prstGeom>
          <a:noFill/>
        </p:spPr>
        <p:txBody>
          <a:bodyPr wrap="square" lIns="0" rIns="0" tIns="0" bIns="0" anchor="t">
            <a:spAutoFit/>
          </a:bodyPr>
          <a:lstStyle/>
          <a:p>
            <a:pPr algn="r"/>
            <a:r>
              <a:rPr sz="900" b="1" i="0">
                <a:solidFill>
                  <a:srgbClr val="FFF2CC"/>
                </a:solidFill>
                <a:latin typeface="Calibri"/>
              </a:rPr>
              <a:t>CONFIDENTIAL</a:t>
            </a:r>
          </a:p>
        </p:txBody>
      </p:sp>
      <p:sp>
        <p:nvSpPr>
          <p:cNvPr id="6" name="Rectangle 5"/>
          <p:cNvSpPr/>
          <p:nvPr/>
        </p:nvSpPr>
        <p:spPr>
          <a:xfrm>
            <a:off x="566928" y="6272784"/>
            <a:ext cx="11057839"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6382512"/>
            <a:ext cx="7863840" cy="237744"/>
          </a:xfrm>
          <a:prstGeom prst="rect">
            <a:avLst/>
          </a:prstGeom>
          <a:noFill/>
        </p:spPr>
        <p:txBody>
          <a:bodyPr wrap="square" lIns="0" rIns="0" tIns="0" bIns="0" anchor="t">
            <a:spAutoFit/>
          </a:bodyPr>
          <a:lstStyle/>
          <a:p>
            <a:pPr algn="l"/>
            <a:r>
              <a:rPr sz="850" b="0" i="0">
                <a:solidFill>
                  <a:srgbClr val="595959"/>
                </a:solidFill>
                <a:latin typeface="Calibri"/>
              </a:rPr>
              <a:t>Northstar Analytics · prepared by Priya Shah, VP Finance · 17 August 2026</a:t>
            </a:r>
          </a:p>
        </p:txBody>
      </p:sp>
      <p:sp>
        <p:nvSpPr>
          <p:cNvPr id="8" name="TextBox 7"/>
          <p:cNvSpPr txBox="1"/>
          <p:nvPr/>
        </p:nvSpPr>
        <p:spPr>
          <a:xfrm>
            <a:off x="10527487" y="6382512"/>
            <a:ext cx="1097280" cy="237744"/>
          </a:xfrm>
          <a:prstGeom prst="rect">
            <a:avLst/>
          </a:prstGeom>
          <a:noFill/>
        </p:spPr>
        <p:txBody>
          <a:bodyPr wrap="square" lIns="0" rIns="0" tIns="0" bIns="0" anchor="t">
            <a:spAutoFit/>
          </a:bodyPr>
          <a:lstStyle/>
          <a:p>
            <a:pPr algn="r"/>
            <a:r>
              <a:rPr sz="850" b="0" i="0">
                <a:solidFill>
                  <a:srgbClr val="595959"/>
                </a:solidFill>
                <a:latin typeface="Calibri"/>
              </a:rPr>
              <a:t>4</a:t>
            </a:r>
          </a:p>
        </p:txBody>
      </p:sp>
      <p:sp>
        <p:nvSpPr>
          <p:cNvPr id="9" name="Rectangle 8"/>
          <p:cNvSpPr/>
          <p:nvPr/>
        </p:nvSpPr>
        <p:spPr>
          <a:xfrm>
            <a:off x="566928" y="1463040"/>
            <a:ext cx="1051560" cy="3810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618488" y="1463040"/>
            <a:ext cx="10006279" cy="3810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5541264"/>
            <a:ext cx="11057839" cy="566928"/>
          </a:xfrm>
          <a:prstGeom prst="rect">
            <a:avLst/>
          </a:prstGeom>
          <a:solidFill>
            <a:srgbClr val="EF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a:lstStyle/>
          <a:p>
            <a:r>
              <a:rPr sz="1000" b="1">
                <a:solidFill>
                  <a:srgbClr val="1F4E79"/>
                </a:solidFill>
                <a:latin typeface="Calibri"/>
              </a:rPr>
              <a:t>So what   </a:t>
            </a:r>
            <a:r>
              <a:rPr sz="1150">
                <a:solidFill>
                  <a:srgbClr val="262626"/>
                </a:solidFill>
                <a:latin typeface="Calibri"/>
              </a:rPr>
              <a:t>Enterprise retention is a moat; SMB packaging needs a Q4 decision.</a:t>
            </a:r>
          </a:p>
        </p:txBody>
      </p:sp>
      <p:sp>
        <p:nvSpPr>
          <p:cNvPr id="12" name="Rectangle 11"/>
          <p:cNvSpPr/>
          <p:nvPr/>
        </p:nvSpPr>
        <p:spPr>
          <a:xfrm>
            <a:off x="566928" y="5541264"/>
            <a:ext cx="4445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66928" y="658368"/>
            <a:ext cx="11057839" cy="749808"/>
          </a:xfrm>
        </p:spPr>
        <p:txBody>
          <a:bodyPr wrap="square" lIns="0" bIns="0" tIns="0" anchor="b"/>
          <a:lstStyle/>
          <a:p>
            <a:pPr algn="l"/>
            <a:r>
              <a:rPr sz="3000" b="0">
                <a:solidFill>
                  <a:srgbClr val="1F4E79"/>
                </a:solidFill>
                <a:latin typeface="Calibri Light"/>
              </a:rPr>
              <a:t>Pipeline and Q4 coverage</a:t>
            </a:r>
          </a:p>
        </p:txBody>
      </p:sp>
      <p:sp>
        <p:nvSpPr>
          <p:cNvPr id="3" name="Body"/>
          <p:cNvSpPr>
            <a:spLocks noGrp="1"/>
          </p:cNvSpPr>
          <p:nvPr>
            <p:ph idx="1"/>
          </p:nvPr>
        </p:nvSpPr>
        <p:spPr>
          <a:xfrm>
            <a:off x="566928" y="1783080"/>
            <a:ext cx="11057839" cy="3566160"/>
          </a:xfrm>
        </p:spPr>
        <p:txBody>
          <a:bodyPr wrap="square" lIns="0" tIns="0"/>
          <a:lstStyle/>
          <a:p>
            <a:pPr>
              <a:spcAft>
                <a:spcPts val="900"/>
              </a:spcAft>
            </a:pPr>
            <a:r>
              <a:rPr sz="1500">
                <a:solidFill>
                  <a:srgbClr val="262626"/>
                </a:solidFill>
                <a:latin typeface="Calibri"/>
              </a:rPr>
              <a:t>Weighted pipeline $8.9M against a $2.9M new-ARR plan — 3.1x coverage.</a:t>
            </a:r>
          </a:p>
          <a:p>
            <a:pPr>
              <a:spcAft>
                <a:spcPts val="900"/>
              </a:spcAft>
            </a:pPr>
            <a:r>
              <a:rPr sz="1500">
                <a:solidFill>
                  <a:srgbClr val="262626"/>
                </a:solidFill>
                <a:latin typeface="Calibri"/>
              </a:rPr>
              <a:t>Stage 4+ value grew 22% quarter over quarter.</a:t>
            </a:r>
          </a:p>
          <a:p>
            <a:pPr>
              <a:spcAft>
                <a:spcPts val="900"/>
              </a:spcAft>
            </a:pPr>
            <a:r>
              <a:rPr sz="1500">
                <a:solidFill>
                  <a:srgbClr val="262626"/>
                </a:solidFill>
                <a:latin typeface="Calibri"/>
              </a:rPr>
              <a:t>Two verbals worth $610k slipped from Q3 into the first week of Q4.</a:t>
            </a:r>
          </a:p>
          <a:p>
            <a:pPr lvl="1">
              <a:spcAft>
                <a:spcPts val="900"/>
              </a:spcAft>
            </a:pPr>
            <a:r>
              <a:rPr sz="1350">
                <a:solidFill>
                  <a:srgbClr val="595959"/>
                </a:solidFill>
                <a:latin typeface="Calibri"/>
              </a:rPr>
              <a:t>Security review remains the long pole at a 19-day median.</a:t>
            </a:r>
          </a:p>
        </p:txBody>
      </p:sp>
      <p:sp>
        <p:nvSpPr>
          <p:cNvPr id="4" name="Rectangle 3"/>
          <p:cNvSpPr/>
          <p:nvPr/>
        </p:nvSpPr>
        <p:spPr>
          <a:xfrm>
            <a:off x="0" y="0"/>
            <a:ext cx="12191695"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0" bIns="0"/>
          <a:lstStyle/>
          <a:p>
            <a:r>
              <a:rPr sz="900" b="1">
                <a:solidFill>
                  <a:srgbClr val="FFFFFF"/>
                </a:solidFill>
                <a:latin typeface="Calibri"/>
              </a:rPr>
              <a:t>NORTHSTAR ANALYTICS   |   FY2026 Q3 BOARD PACK</a:t>
            </a:r>
          </a:p>
        </p:txBody>
      </p:sp>
      <p:sp>
        <p:nvSpPr>
          <p:cNvPr id="5" name="TextBox 4"/>
          <p:cNvSpPr txBox="1"/>
          <p:nvPr/>
        </p:nvSpPr>
        <p:spPr>
          <a:xfrm>
            <a:off x="9997135" y="82296"/>
            <a:ext cx="1627632" cy="219456"/>
          </a:xfrm>
          <a:prstGeom prst="rect">
            <a:avLst/>
          </a:prstGeom>
          <a:noFill/>
        </p:spPr>
        <p:txBody>
          <a:bodyPr wrap="square" lIns="0" rIns="0" tIns="0" bIns="0" anchor="t">
            <a:spAutoFit/>
          </a:bodyPr>
          <a:lstStyle/>
          <a:p>
            <a:pPr algn="r"/>
            <a:r>
              <a:rPr sz="900" b="1" i="0">
                <a:solidFill>
                  <a:srgbClr val="FFF2CC"/>
                </a:solidFill>
                <a:latin typeface="Calibri"/>
              </a:rPr>
              <a:t>CONFIDENTIAL</a:t>
            </a:r>
          </a:p>
        </p:txBody>
      </p:sp>
      <p:sp>
        <p:nvSpPr>
          <p:cNvPr id="6" name="Rectangle 5"/>
          <p:cNvSpPr/>
          <p:nvPr/>
        </p:nvSpPr>
        <p:spPr>
          <a:xfrm>
            <a:off x="566928" y="6272784"/>
            <a:ext cx="11057839"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6382512"/>
            <a:ext cx="7863840" cy="237744"/>
          </a:xfrm>
          <a:prstGeom prst="rect">
            <a:avLst/>
          </a:prstGeom>
          <a:noFill/>
        </p:spPr>
        <p:txBody>
          <a:bodyPr wrap="square" lIns="0" rIns="0" tIns="0" bIns="0" anchor="t">
            <a:spAutoFit/>
          </a:bodyPr>
          <a:lstStyle/>
          <a:p>
            <a:pPr algn="l"/>
            <a:r>
              <a:rPr sz="850" b="0" i="0">
                <a:solidFill>
                  <a:srgbClr val="595959"/>
                </a:solidFill>
                <a:latin typeface="Calibri"/>
              </a:rPr>
              <a:t>Northstar Analytics · prepared by Priya Shah, VP Finance · 17 August 2026</a:t>
            </a:r>
          </a:p>
        </p:txBody>
      </p:sp>
      <p:sp>
        <p:nvSpPr>
          <p:cNvPr id="8" name="TextBox 7"/>
          <p:cNvSpPr txBox="1"/>
          <p:nvPr/>
        </p:nvSpPr>
        <p:spPr>
          <a:xfrm>
            <a:off x="10527487" y="6382512"/>
            <a:ext cx="1097280" cy="237744"/>
          </a:xfrm>
          <a:prstGeom prst="rect">
            <a:avLst/>
          </a:prstGeom>
          <a:noFill/>
        </p:spPr>
        <p:txBody>
          <a:bodyPr wrap="square" lIns="0" rIns="0" tIns="0" bIns="0" anchor="t">
            <a:spAutoFit/>
          </a:bodyPr>
          <a:lstStyle/>
          <a:p>
            <a:pPr algn="r"/>
            <a:r>
              <a:rPr sz="850" b="0" i="0">
                <a:solidFill>
                  <a:srgbClr val="595959"/>
                </a:solidFill>
                <a:latin typeface="Calibri"/>
              </a:rPr>
              <a:t>5</a:t>
            </a:r>
          </a:p>
        </p:txBody>
      </p:sp>
      <p:sp>
        <p:nvSpPr>
          <p:cNvPr id="9" name="Rectangle 8"/>
          <p:cNvSpPr/>
          <p:nvPr/>
        </p:nvSpPr>
        <p:spPr>
          <a:xfrm>
            <a:off x="566928" y="1463040"/>
            <a:ext cx="1051560" cy="3810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618488" y="1463040"/>
            <a:ext cx="10006279" cy="3810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5541264"/>
            <a:ext cx="11057839" cy="566928"/>
          </a:xfrm>
          <a:prstGeom prst="rect">
            <a:avLst/>
          </a:prstGeom>
          <a:solidFill>
            <a:srgbClr val="EF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a:lstStyle/>
          <a:p>
            <a:r>
              <a:rPr sz="1000" b="1">
                <a:solidFill>
                  <a:srgbClr val="1F4E79"/>
                </a:solidFill>
                <a:latin typeface="Calibri"/>
              </a:rPr>
              <a:t>So what   </a:t>
            </a:r>
            <a:r>
              <a:rPr sz="1150">
                <a:solidFill>
                  <a:srgbClr val="262626"/>
                </a:solidFill>
                <a:latin typeface="Calibri"/>
              </a:rPr>
              <a:t>Coverage clears the 3.0x threshold; cycle time is the constraint, not volume.</a:t>
            </a:r>
          </a:p>
        </p:txBody>
      </p:sp>
      <p:sp>
        <p:nvSpPr>
          <p:cNvPr id="12" name="Rectangle 11"/>
          <p:cNvSpPr/>
          <p:nvPr/>
        </p:nvSpPr>
        <p:spPr>
          <a:xfrm>
            <a:off x="566928" y="5541264"/>
            <a:ext cx="4445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66928" y="658368"/>
            <a:ext cx="11057839" cy="749808"/>
          </a:xfrm>
        </p:spPr>
        <p:txBody>
          <a:bodyPr wrap="square" lIns="0" bIns="0" tIns="0" anchor="b"/>
          <a:lstStyle/>
          <a:p>
            <a:pPr algn="l"/>
            <a:r>
              <a:rPr sz="3000" b="0">
                <a:solidFill>
                  <a:srgbClr val="1F4E79"/>
                </a:solidFill>
                <a:latin typeface="Calibri Light"/>
              </a:rPr>
              <a:t>Go-to-market efficiency</a:t>
            </a:r>
          </a:p>
        </p:txBody>
      </p:sp>
      <p:sp>
        <p:nvSpPr>
          <p:cNvPr id="3" name="Body"/>
          <p:cNvSpPr>
            <a:spLocks noGrp="1"/>
          </p:cNvSpPr>
          <p:nvPr>
            <p:ph idx="1"/>
          </p:nvPr>
        </p:nvSpPr>
        <p:spPr>
          <a:xfrm>
            <a:off x="566928" y="1783080"/>
            <a:ext cx="11057839" cy="3566160"/>
          </a:xfrm>
        </p:spPr>
        <p:txBody>
          <a:bodyPr wrap="square" lIns="0" tIns="0"/>
          <a:lstStyle/>
          <a:p>
            <a:pPr>
              <a:spcAft>
                <a:spcPts val="900"/>
              </a:spcAft>
            </a:pPr>
            <a:r>
              <a:rPr sz="1500">
                <a:solidFill>
                  <a:srgbClr val="262626"/>
                </a:solidFill>
                <a:latin typeface="Calibri"/>
              </a:rPr>
              <a:t>Blended CAC $18.4k; gross-margin-adjusted payback 14 months.</a:t>
            </a:r>
          </a:p>
          <a:p>
            <a:pPr>
              <a:spcAft>
                <a:spcPts val="900"/>
              </a:spcAft>
            </a:pPr>
            <a:r>
              <a:rPr sz="1500">
                <a:solidFill>
                  <a:srgbClr val="262626"/>
                </a:solidFill>
                <a:latin typeface="Calibri"/>
              </a:rPr>
              <a:t>Magic number 0.9; partner-sourced deals close 23% faster than direct.</a:t>
            </a:r>
          </a:p>
          <a:p>
            <a:pPr>
              <a:spcAft>
                <a:spcPts val="900"/>
              </a:spcAft>
            </a:pPr>
            <a:r>
              <a:rPr sz="1500">
                <a:solidFill>
                  <a:srgbClr val="262626"/>
                </a:solidFill>
                <a:latin typeface="Calibri"/>
              </a:rPr>
              <a:t>Marketing spend flat quarter over quarter while pipeline grew 14%.</a:t>
            </a:r>
          </a:p>
        </p:txBody>
      </p:sp>
      <p:sp>
        <p:nvSpPr>
          <p:cNvPr id="4" name="Rectangle 3"/>
          <p:cNvSpPr/>
          <p:nvPr/>
        </p:nvSpPr>
        <p:spPr>
          <a:xfrm>
            <a:off x="0" y="0"/>
            <a:ext cx="12191695"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0" bIns="0"/>
          <a:lstStyle/>
          <a:p>
            <a:r>
              <a:rPr sz="900" b="1">
                <a:solidFill>
                  <a:srgbClr val="FFFFFF"/>
                </a:solidFill>
                <a:latin typeface="Calibri"/>
              </a:rPr>
              <a:t>NORTHSTAR ANALYTICS   |   FY2026 Q3 BOARD PACK</a:t>
            </a:r>
          </a:p>
        </p:txBody>
      </p:sp>
      <p:sp>
        <p:nvSpPr>
          <p:cNvPr id="5" name="TextBox 4"/>
          <p:cNvSpPr txBox="1"/>
          <p:nvPr/>
        </p:nvSpPr>
        <p:spPr>
          <a:xfrm>
            <a:off x="9997135" y="82296"/>
            <a:ext cx="1627632" cy="219456"/>
          </a:xfrm>
          <a:prstGeom prst="rect">
            <a:avLst/>
          </a:prstGeom>
          <a:noFill/>
        </p:spPr>
        <p:txBody>
          <a:bodyPr wrap="square" lIns="0" rIns="0" tIns="0" bIns="0" anchor="t">
            <a:spAutoFit/>
          </a:bodyPr>
          <a:lstStyle/>
          <a:p>
            <a:pPr algn="r"/>
            <a:r>
              <a:rPr sz="900" b="1" i="0">
                <a:solidFill>
                  <a:srgbClr val="FFF2CC"/>
                </a:solidFill>
                <a:latin typeface="Calibri"/>
              </a:rPr>
              <a:t>CONFIDENTIAL</a:t>
            </a:r>
          </a:p>
        </p:txBody>
      </p:sp>
      <p:sp>
        <p:nvSpPr>
          <p:cNvPr id="6" name="Rectangle 5"/>
          <p:cNvSpPr/>
          <p:nvPr/>
        </p:nvSpPr>
        <p:spPr>
          <a:xfrm>
            <a:off x="566928" y="6272784"/>
            <a:ext cx="11057839"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6382512"/>
            <a:ext cx="7863840" cy="237744"/>
          </a:xfrm>
          <a:prstGeom prst="rect">
            <a:avLst/>
          </a:prstGeom>
          <a:noFill/>
        </p:spPr>
        <p:txBody>
          <a:bodyPr wrap="square" lIns="0" rIns="0" tIns="0" bIns="0" anchor="t">
            <a:spAutoFit/>
          </a:bodyPr>
          <a:lstStyle/>
          <a:p>
            <a:pPr algn="l"/>
            <a:r>
              <a:rPr sz="850" b="0" i="0">
                <a:solidFill>
                  <a:srgbClr val="595959"/>
                </a:solidFill>
                <a:latin typeface="Calibri"/>
              </a:rPr>
              <a:t>Northstar Analytics · prepared by Priya Shah, VP Finance · 17 August 2026</a:t>
            </a:r>
          </a:p>
        </p:txBody>
      </p:sp>
      <p:sp>
        <p:nvSpPr>
          <p:cNvPr id="8" name="TextBox 7"/>
          <p:cNvSpPr txBox="1"/>
          <p:nvPr/>
        </p:nvSpPr>
        <p:spPr>
          <a:xfrm>
            <a:off x="10527487" y="6382512"/>
            <a:ext cx="1097280" cy="237744"/>
          </a:xfrm>
          <a:prstGeom prst="rect">
            <a:avLst/>
          </a:prstGeom>
          <a:noFill/>
        </p:spPr>
        <p:txBody>
          <a:bodyPr wrap="square" lIns="0" rIns="0" tIns="0" bIns="0" anchor="t">
            <a:spAutoFit/>
          </a:bodyPr>
          <a:lstStyle/>
          <a:p>
            <a:pPr algn="r"/>
            <a:r>
              <a:rPr sz="850" b="0" i="0">
                <a:solidFill>
                  <a:srgbClr val="595959"/>
                </a:solidFill>
                <a:latin typeface="Calibri"/>
              </a:rPr>
              <a:t>6</a:t>
            </a:r>
          </a:p>
        </p:txBody>
      </p:sp>
      <p:sp>
        <p:nvSpPr>
          <p:cNvPr id="9" name="Rectangle 8"/>
          <p:cNvSpPr/>
          <p:nvPr/>
        </p:nvSpPr>
        <p:spPr>
          <a:xfrm>
            <a:off x="566928" y="1463040"/>
            <a:ext cx="1051560" cy="3810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618488" y="1463040"/>
            <a:ext cx="10006279" cy="3810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5541264"/>
            <a:ext cx="11057839" cy="566928"/>
          </a:xfrm>
          <a:prstGeom prst="rect">
            <a:avLst/>
          </a:prstGeom>
          <a:solidFill>
            <a:srgbClr val="EF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a:lstStyle/>
          <a:p>
            <a:r>
              <a:rPr sz="1000" b="1">
                <a:solidFill>
                  <a:srgbClr val="1F4E79"/>
                </a:solidFill>
                <a:latin typeface="Calibri"/>
              </a:rPr>
              <a:t>So what   </a:t>
            </a:r>
            <a:r>
              <a:rPr sz="1150">
                <a:solidFill>
                  <a:srgbClr val="262626"/>
                </a:solidFill>
                <a:latin typeface="Calibri"/>
              </a:rPr>
              <a:t>Efficiency is improving without extra spend — fund partner enablement, not more ads.</a:t>
            </a:r>
          </a:p>
        </p:txBody>
      </p:sp>
      <p:sp>
        <p:nvSpPr>
          <p:cNvPr id="12" name="Rectangle 11"/>
          <p:cNvSpPr/>
          <p:nvPr/>
        </p:nvSpPr>
        <p:spPr>
          <a:xfrm>
            <a:off x="566928" y="5541264"/>
            <a:ext cx="4445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66928" y="658368"/>
            <a:ext cx="11057839" cy="749808"/>
          </a:xfrm>
        </p:spPr>
        <p:txBody>
          <a:bodyPr wrap="square" lIns="0" bIns="0" tIns="0" anchor="b"/>
          <a:lstStyle/>
          <a:p>
            <a:pPr algn="l"/>
            <a:r>
              <a:rPr sz="3000" b="0">
                <a:solidFill>
                  <a:srgbClr val="1F4E79"/>
                </a:solidFill>
                <a:latin typeface="Calibri Light"/>
              </a:rPr>
              <a:t>Headcount and operating expense</a:t>
            </a:r>
          </a:p>
        </p:txBody>
      </p:sp>
      <p:sp>
        <p:nvSpPr>
          <p:cNvPr id="3" name="Body"/>
          <p:cNvSpPr>
            <a:spLocks noGrp="1"/>
          </p:cNvSpPr>
          <p:nvPr>
            <p:ph idx="1"/>
          </p:nvPr>
        </p:nvSpPr>
        <p:spPr>
          <a:xfrm>
            <a:off x="566928" y="1783080"/>
            <a:ext cx="11057839" cy="3566160"/>
          </a:xfrm>
        </p:spPr>
        <p:txBody>
          <a:bodyPr wrap="square" lIns="0" tIns="0"/>
          <a:lstStyle/>
          <a:p>
            <a:pPr>
              <a:spcAft>
                <a:spcPts val="900"/>
              </a:spcAft>
            </a:pPr>
            <a:r>
              <a:rPr sz="1500">
                <a:solidFill>
                  <a:srgbClr val="262626"/>
                </a:solidFill>
                <a:latin typeface="Calibri"/>
              </a:rPr>
              <a:t>211 employees against a plan of 219 — six net under, two offers out.</a:t>
            </a:r>
          </a:p>
          <a:p>
            <a:pPr>
              <a:spcAft>
                <a:spcPts val="900"/>
              </a:spcAft>
            </a:pPr>
            <a:r>
              <a:rPr sz="1500">
                <a:solidFill>
                  <a:srgbClr val="262626"/>
                </a:solidFill>
                <a:latin typeface="Calibri"/>
              </a:rPr>
              <a:t>Operating expense $9.1M in the quarter, $340k favourable to plan.</a:t>
            </a:r>
          </a:p>
          <a:p>
            <a:pPr>
              <a:spcAft>
                <a:spcPts val="900"/>
              </a:spcAft>
            </a:pPr>
            <a:r>
              <a:rPr sz="1500">
                <a:solidFill>
                  <a:srgbClr val="262626"/>
                </a:solidFill>
                <a:latin typeface="Calibri"/>
              </a:rPr>
              <a:t>Hiring underrun funds two Q4 security engineers.</a:t>
            </a:r>
          </a:p>
        </p:txBody>
      </p:sp>
      <p:sp>
        <p:nvSpPr>
          <p:cNvPr id="4" name="Rectangle 3"/>
          <p:cNvSpPr/>
          <p:nvPr/>
        </p:nvSpPr>
        <p:spPr>
          <a:xfrm>
            <a:off x="0" y="0"/>
            <a:ext cx="12191695"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0" bIns="0"/>
          <a:lstStyle/>
          <a:p>
            <a:r>
              <a:rPr sz="900" b="1">
                <a:solidFill>
                  <a:srgbClr val="FFFFFF"/>
                </a:solidFill>
                <a:latin typeface="Calibri"/>
              </a:rPr>
              <a:t>NORTHSTAR ANALYTICS   |   FY2026 Q3 BOARD PACK</a:t>
            </a:r>
          </a:p>
        </p:txBody>
      </p:sp>
      <p:sp>
        <p:nvSpPr>
          <p:cNvPr id="5" name="TextBox 4"/>
          <p:cNvSpPr txBox="1"/>
          <p:nvPr/>
        </p:nvSpPr>
        <p:spPr>
          <a:xfrm>
            <a:off x="9997135" y="82296"/>
            <a:ext cx="1627632" cy="219456"/>
          </a:xfrm>
          <a:prstGeom prst="rect">
            <a:avLst/>
          </a:prstGeom>
          <a:noFill/>
        </p:spPr>
        <p:txBody>
          <a:bodyPr wrap="square" lIns="0" rIns="0" tIns="0" bIns="0" anchor="t">
            <a:spAutoFit/>
          </a:bodyPr>
          <a:lstStyle/>
          <a:p>
            <a:pPr algn="r"/>
            <a:r>
              <a:rPr sz="900" b="1" i="0">
                <a:solidFill>
                  <a:srgbClr val="FFF2CC"/>
                </a:solidFill>
                <a:latin typeface="Calibri"/>
              </a:rPr>
              <a:t>CONFIDENTIAL</a:t>
            </a:r>
          </a:p>
        </p:txBody>
      </p:sp>
      <p:sp>
        <p:nvSpPr>
          <p:cNvPr id="6" name="Rectangle 5"/>
          <p:cNvSpPr/>
          <p:nvPr/>
        </p:nvSpPr>
        <p:spPr>
          <a:xfrm>
            <a:off x="566928" y="6272784"/>
            <a:ext cx="11057839"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6382512"/>
            <a:ext cx="7863840" cy="237744"/>
          </a:xfrm>
          <a:prstGeom prst="rect">
            <a:avLst/>
          </a:prstGeom>
          <a:noFill/>
        </p:spPr>
        <p:txBody>
          <a:bodyPr wrap="square" lIns="0" rIns="0" tIns="0" bIns="0" anchor="t">
            <a:spAutoFit/>
          </a:bodyPr>
          <a:lstStyle/>
          <a:p>
            <a:pPr algn="l"/>
            <a:r>
              <a:rPr sz="850" b="0" i="0">
                <a:solidFill>
                  <a:srgbClr val="595959"/>
                </a:solidFill>
                <a:latin typeface="Calibri"/>
              </a:rPr>
              <a:t>Northstar Analytics · prepared by Priya Shah, VP Finance · 17 August 2026</a:t>
            </a:r>
          </a:p>
        </p:txBody>
      </p:sp>
      <p:sp>
        <p:nvSpPr>
          <p:cNvPr id="8" name="TextBox 7"/>
          <p:cNvSpPr txBox="1"/>
          <p:nvPr/>
        </p:nvSpPr>
        <p:spPr>
          <a:xfrm>
            <a:off x="10527487" y="6382512"/>
            <a:ext cx="1097280" cy="237744"/>
          </a:xfrm>
          <a:prstGeom prst="rect">
            <a:avLst/>
          </a:prstGeom>
          <a:noFill/>
        </p:spPr>
        <p:txBody>
          <a:bodyPr wrap="square" lIns="0" rIns="0" tIns="0" bIns="0" anchor="t">
            <a:spAutoFit/>
          </a:bodyPr>
          <a:lstStyle/>
          <a:p>
            <a:pPr algn="r"/>
            <a:r>
              <a:rPr sz="850" b="0" i="0">
                <a:solidFill>
                  <a:srgbClr val="595959"/>
                </a:solidFill>
                <a:latin typeface="Calibri"/>
              </a:rPr>
              <a:t>7</a:t>
            </a:r>
          </a:p>
        </p:txBody>
      </p:sp>
      <p:sp>
        <p:nvSpPr>
          <p:cNvPr id="9" name="Rectangle 8"/>
          <p:cNvSpPr/>
          <p:nvPr/>
        </p:nvSpPr>
        <p:spPr>
          <a:xfrm>
            <a:off x="566928" y="1463040"/>
            <a:ext cx="1051560" cy="3810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618488" y="1463040"/>
            <a:ext cx="10006279" cy="3810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5541264"/>
            <a:ext cx="11057839" cy="566928"/>
          </a:xfrm>
          <a:prstGeom prst="rect">
            <a:avLst/>
          </a:prstGeom>
          <a:solidFill>
            <a:srgbClr val="EF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a:lstStyle/>
          <a:p>
            <a:r>
              <a:rPr sz="1000" b="1">
                <a:solidFill>
                  <a:srgbClr val="1F4E79"/>
                </a:solidFill>
                <a:latin typeface="Calibri"/>
              </a:rPr>
              <a:t>So what   </a:t>
            </a:r>
            <a:r>
              <a:rPr sz="1150">
                <a:solidFill>
                  <a:srgbClr val="262626"/>
                </a:solidFill>
                <a:latin typeface="Calibri"/>
              </a:rPr>
              <a:t>We are under plan on people and under plan on spend; reinvest, do not bank it.</a:t>
            </a:r>
          </a:p>
        </p:txBody>
      </p:sp>
      <p:sp>
        <p:nvSpPr>
          <p:cNvPr id="12" name="Rectangle 11"/>
          <p:cNvSpPr/>
          <p:nvPr/>
        </p:nvSpPr>
        <p:spPr>
          <a:xfrm>
            <a:off x="566928" y="5541264"/>
            <a:ext cx="4445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66928" y="658368"/>
            <a:ext cx="11057839" cy="749808"/>
          </a:xfrm>
        </p:spPr>
        <p:txBody>
          <a:bodyPr wrap="square" lIns="0" bIns="0" tIns="0" anchor="b"/>
          <a:lstStyle/>
          <a:p>
            <a:pPr algn="l"/>
            <a:r>
              <a:rPr sz="3000" b="0">
                <a:solidFill>
                  <a:srgbClr val="1F4E79"/>
                </a:solidFill>
                <a:latin typeface="Calibri Light"/>
              </a:rPr>
              <a:t>Risks and mitigations</a:t>
            </a:r>
          </a:p>
        </p:txBody>
      </p:sp>
      <p:sp>
        <p:nvSpPr>
          <p:cNvPr id="3" name="Body"/>
          <p:cNvSpPr>
            <a:spLocks noGrp="1"/>
          </p:cNvSpPr>
          <p:nvPr>
            <p:ph idx="1"/>
          </p:nvPr>
        </p:nvSpPr>
        <p:spPr>
          <a:xfrm>
            <a:off x="566928" y="1783080"/>
            <a:ext cx="11057839" cy="3566160"/>
          </a:xfrm>
        </p:spPr>
        <p:txBody>
          <a:bodyPr wrap="square" lIns="0" tIns="0"/>
          <a:lstStyle/>
          <a:p>
            <a:pPr>
              <a:spcAft>
                <a:spcPts val="900"/>
              </a:spcAft>
            </a:pPr>
            <a:r>
              <a:rPr sz="1500">
                <a:solidFill>
                  <a:srgbClr val="262626"/>
                </a:solidFill>
                <a:latin typeface="Calibri"/>
              </a:rPr>
              <a:t>SMB churn 6.8% annualised — pricing experiment starts week three of Q4.</a:t>
            </a:r>
          </a:p>
          <a:p>
            <a:pPr>
              <a:spcAft>
                <a:spcPts val="900"/>
              </a:spcAft>
            </a:pPr>
            <a:r>
              <a:rPr sz="1500">
                <a:solidFill>
                  <a:srgbClr val="262626"/>
                </a:solidFill>
                <a:latin typeface="Calibri"/>
              </a:rPr>
              <a:t>$1.4M of enterprise renewals land in the first three weeks of Q4.</a:t>
            </a:r>
          </a:p>
          <a:p>
            <a:pPr>
              <a:spcAft>
                <a:spcPts val="900"/>
              </a:spcAft>
            </a:pPr>
            <a:r>
              <a:rPr sz="1500">
                <a:solidFill>
                  <a:srgbClr val="262626"/>
                </a:solidFill>
                <a:latin typeface="Calibri"/>
              </a:rPr>
              <a:t>Single-region hosting dependency; multi-region failover is a Q1 FY2027 project.</a:t>
            </a:r>
          </a:p>
          <a:p>
            <a:pPr lvl="1">
              <a:spcAft>
                <a:spcPts val="900"/>
              </a:spcAft>
            </a:pPr>
            <a:r>
              <a:rPr sz="1350">
                <a:solidFill>
                  <a:srgbClr val="595959"/>
                </a:solidFill>
                <a:latin typeface="Calibri"/>
              </a:rPr>
              <a:t>Every renewal above $250k now has a named executive sponsor.</a:t>
            </a:r>
          </a:p>
        </p:txBody>
      </p:sp>
      <p:sp>
        <p:nvSpPr>
          <p:cNvPr id="4" name="Rectangle 3"/>
          <p:cNvSpPr/>
          <p:nvPr/>
        </p:nvSpPr>
        <p:spPr>
          <a:xfrm>
            <a:off x="0" y="0"/>
            <a:ext cx="12191695"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0" bIns="0"/>
          <a:lstStyle/>
          <a:p>
            <a:r>
              <a:rPr sz="900" b="1">
                <a:solidFill>
                  <a:srgbClr val="FFFFFF"/>
                </a:solidFill>
                <a:latin typeface="Calibri"/>
              </a:rPr>
              <a:t>NORTHSTAR ANALYTICS   |   FY2026 Q3 BOARD PACK</a:t>
            </a:r>
          </a:p>
        </p:txBody>
      </p:sp>
      <p:sp>
        <p:nvSpPr>
          <p:cNvPr id="5" name="TextBox 4"/>
          <p:cNvSpPr txBox="1"/>
          <p:nvPr/>
        </p:nvSpPr>
        <p:spPr>
          <a:xfrm>
            <a:off x="9997135" y="82296"/>
            <a:ext cx="1627632" cy="219456"/>
          </a:xfrm>
          <a:prstGeom prst="rect">
            <a:avLst/>
          </a:prstGeom>
          <a:noFill/>
        </p:spPr>
        <p:txBody>
          <a:bodyPr wrap="square" lIns="0" rIns="0" tIns="0" bIns="0" anchor="t">
            <a:spAutoFit/>
          </a:bodyPr>
          <a:lstStyle/>
          <a:p>
            <a:pPr algn="r"/>
            <a:r>
              <a:rPr sz="900" b="1" i="0">
                <a:solidFill>
                  <a:srgbClr val="FFF2CC"/>
                </a:solidFill>
                <a:latin typeface="Calibri"/>
              </a:rPr>
              <a:t>CONFIDENTIAL</a:t>
            </a:r>
          </a:p>
        </p:txBody>
      </p:sp>
      <p:sp>
        <p:nvSpPr>
          <p:cNvPr id="6" name="Rectangle 5"/>
          <p:cNvSpPr/>
          <p:nvPr/>
        </p:nvSpPr>
        <p:spPr>
          <a:xfrm>
            <a:off x="566928" y="6272784"/>
            <a:ext cx="11057839"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6382512"/>
            <a:ext cx="7863840" cy="237744"/>
          </a:xfrm>
          <a:prstGeom prst="rect">
            <a:avLst/>
          </a:prstGeom>
          <a:noFill/>
        </p:spPr>
        <p:txBody>
          <a:bodyPr wrap="square" lIns="0" rIns="0" tIns="0" bIns="0" anchor="t">
            <a:spAutoFit/>
          </a:bodyPr>
          <a:lstStyle/>
          <a:p>
            <a:pPr algn="l"/>
            <a:r>
              <a:rPr sz="850" b="0" i="0">
                <a:solidFill>
                  <a:srgbClr val="595959"/>
                </a:solidFill>
                <a:latin typeface="Calibri"/>
              </a:rPr>
              <a:t>Northstar Analytics · prepared by Priya Shah, VP Finance · 17 August 2026</a:t>
            </a:r>
          </a:p>
        </p:txBody>
      </p:sp>
      <p:sp>
        <p:nvSpPr>
          <p:cNvPr id="8" name="TextBox 7"/>
          <p:cNvSpPr txBox="1"/>
          <p:nvPr/>
        </p:nvSpPr>
        <p:spPr>
          <a:xfrm>
            <a:off x="10527487" y="6382512"/>
            <a:ext cx="1097280" cy="237744"/>
          </a:xfrm>
          <a:prstGeom prst="rect">
            <a:avLst/>
          </a:prstGeom>
          <a:noFill/>
        </p:spPr>
        <p:txBody>
          <a:bodyPr wrap="square" lIns="0" rIns="0" tIns="0" bIns="0" anchor="t">
            <a:spAutoFit/>
          </a:bodyPr>
          <a:lstStyle/>
          <a:p>
            <a:pPr algn="r"/>
            <a:r>
              <a:rPr sz="850" b="0" i="0">
                <a:solidFill>
                  <a:srgbClr val="595959"/>
                </a:solidFill>
                <a:latin typeface="Calibri"/>
              </a:rPr>
              <a:t>8</a:t>
            </a:r>
          </a:p>
        </p:txBody>
      </p:sp>
      <p:sp>
        <p:nvSpPr>
          <p:cNvPr id="9" name="Rectangle 8"/>
          <p:cNvSpPr/>
          <p:nvPr/>
        </p:nvSpPr>
        <p:spPr>
          <a:xfrm>
            <a:off x="566928" y="1463040"/>
            <a:ext cx="1051560" cy="3810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618488" y="1463040"/>
            <a:ext cx="10006279" cy="3810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5541264"/>
            <a:ext cx="11057839" cy="566928"/>
          </a:xfrm>
          <a:prstGeom prst="rect">
            <a:avLst/>
          </a:prstGeom>
          <a:solidFill>
            <a:srgbClr val="EF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a:lstStyle/>
          <a:p>
            <a:r>
              <a:rPr sz="1000" b="1">
                <a:solidFill>
                  <a:srgbClr val="1F4E79"/>
                </a:solidFill>
                <a:latin typeface="Calibri"/>
              </a:rPr>
              <a:t>So what   </a:t>
            </a:r>
            <a:r>
              <a:rPr sz="1150">
                <a:solidFill>
                  <a:srgbClr val="262626"/>
                </a:solidFill>
                <a:latin typeface="Calibri"/>
              </a:rPr>
              <a:t>Concentration risk in early Q4 renewals is the item to watch, not churn alone.</a:t>
            </a:r>
          </a:p>
        </p:txBody>
      </p:sp>
      <p:sp>
        <p:nvSpPr>
          <p:cNvPr id="12" name="Rectangle 11"/>
          <p:cNvSpPr/>
          <p:nvPr/>
        </p:nvSpPr>
        <p:spPr>
          <a:xfrm>
            <a:off x="566928" y="5541264"/>
            <a:ext cx="4445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66928" y="658368"/>
            <a:ext cx="11057839" cy="749808"/>
          </a:xfrm>
        </p:spPr>
        <p:txBody>
          <a:bodyPr wrap="square" lIns="0" bIns="0" tIns="0" anchor="b"/>
          <a:lstStyle/>
          <a:p>
            <a:pPr algn="l"/>
            <a:r>
              <a:rPr sz="3000" b="0">
                <a:solidFill>
                  <a:srgbClr val="1F4E79"/>
                </a:solidFill>
                <a:latin typeface="Calibri Light"/>
              </a:rPr>
              <a:t>The ask and next steps</a:t>
            </a:r>
          </a:p>
        </p:txBody>
      </p:sp>
      <p:sp>
        <p:nvSpPr>
          <p:cNvPr id="3" name="Body"/>
          <p:cNvSpPr>
            <a:spLocks noGrp="1"/>
          </p:cNvSpPr>
          <p:nvPr>
            <p:ph idx="1"/>
          </p:nvPr>
        </p:nvSpPr>
        <p:spPr>
          <a:xfrm>
            <a:off x="566928" y="1783080"/>
            <a:ext cx="11057839" cy="3566160"/>
          </a:xfrm>
        </p:spPr>
        <p:txBody>
          <a:bodyPr wrap="square" lIns="0" tIns="0"/>
          <a:lstStyle/>
          <a:p>
            <a:pPr>
              <a:spcAft>
                <a:spcPts val="900"/>
              </a:spcAft>
            </a:pPr>
            <a:r>
              <a:rPr sz="1500">
                <a:solidFill>
                  <a:srgbClr val="262626"/>
                </a:solidFill>
                <a:latin typeface="Calibri"/>
              </a:rPr>
              <a:t>Confirm the Q3 commission rate and the Q4 rate so Finance can lock the plan.</a:t>
            </a:r>
          </a:p>
          <a:p>
            <a:pPr>
              <a:spcAft>
                <a:spcPts val="900"/>
              </a:spcAft>
            </a:pPr>
            <a:r>
              <a:rPr sz="1500">
                <a:solidFill>
                  <a:srgbClr val="262626"/>
                </a:solidFill>
                <a:latin typeface="Calibri"/>
              </a:rPr>
              <a:t>Approve two incremental security engineers from the hiring underrun.</a:t>
            </a:r>
          </a:p>
          <a:p>
            <a:pPr>
              <a:spcAft>
                <a:spcPts val="900"/>
              </a:spcAft>
            </a:pPr>
            <a:r>
              <a:rPr sz="1500">
                <a:solidFill>
                  <a:srgbClr val="262626"/>
                </a:solidFill>
                <a:latin typeface="Calibri"/>
              </a:rPr>
              <a:t>Approve the shift of Q4 demand-gen spend into partner enablement.</a:t>
            </a:r>
          </a:p>
          <a:p>
            <a:pPr>
              <a:spcAft>
                <a:spcPts val="900"/>
              </a:spcAft>
            </a:pPr>
            <a:r>
              <a:rPr sz="1500">
                <a:solidFill>
                  <a:srgbClr val="262626"/>
                </a:solidFill>
                <a:latin typeface="Calibri"/>
              </a:rPr>
              <a:t>Next steps and owners are in the accompanying memo.</a:t>
            </a:r>
          </a:p>
        </p:txBody>
      </p:sp>
      <p:sp>
        <p:nvSpPr>
          <p:cNvPr id="4" name="Rectangle 3"/>
          <p:cNvSpPr/>
          <p:nvPr/>
        </p:nvSpPr>
        <p:spPr>
          <a:xfrm>
            <a:off x="0" y="0"/>
            <a:ext cx="12191695"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0" bIns="0"/>
          <a:lstStyle/>
          <a:p>
            <a:r>
              <a:rPr sz="900" b="1">
                <a:solidFill>
                  <a:srgbClr val="FFFFFF"/>
                </a:solidFill>
                <a:latin typeface="Calibri"/>
              </a:rPr>
              <a:t>NORTHSTAR ANALYTICS   |   FY2026 Q3 BOARD PACK</a:t>
            </a:r>
          </a:p>
        </p:txBody>
      </p:sp>
      <p:sp>
        <p:nvSpPr>
          <p:cNvPr id="5" name="TextBox 4"/>
          <p:cNvSpPr txBox="1"/>
          <p:nvPr/>
        </p:nvSpPr>
        <p:spPr>
          <a:xfrm>
            <a:off x="9997135" y="82296"/>
            <a:ext cx="1627632" cy="219456"/>
          </a:xfrm>
          <a:prstGeom prst="rect">
            <a:avLst/>
          </a:prstGeom>
          <a:noFill/>
        </p:spPr>
        <p:txBody>
          <a:bodyPr wrap="square" lIns="0" rIns="0" tIns="0" bIns="0" anchor="t">
            <a:spAutoFit/>
          </a:bodyPr>
          <a:lstStyle/>
          <a:p>
            <a:pPr algn="r"/>
            <a:r>
              <a:rPr sz="900" b="1" i="0">
                <a:solidFill>
                  <a:srgbClr val="FFF2CC"/>
                </a:solidFill>
                <a:latin typeface="Calibri"/>
              </a:rPr>
              <a:t>CONFIDENTIAL</a:t>
            </a:r>
          </a:p>
        </p:txBody>
      </p:sp>
      <p:sp>
        <p:nvSpPr>
          <p:cNvPr id="6" name="Rectangle 5"/>
          <p:cNvSpPr/>
          <p:nvPr/>
        </p:nvSpPr>
        <p:spPr>
          <a:xfrm>
            <a:off x="566928" y="6272784"/>
            <a:ext cx="11057839"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6382512"/>
            <a:ext cx="7863840" cy="237744"/>
          </a:xfrm>
          <a:prstGeom prst="rect">
            <a:avLst/>
          </a:prstGeom>
          <a:noFill/>
        </p:spPr>
        <p:txBody>
          <a:bodyPr wrap="square" lIns="0" rIns="0" tIns="0" bIns="0" anchor="t">
            <a:spAutoFit/>
          </a:bodyPr>
          <a:lstStyle/>
          <a:p>
            <a:pPr algn="l"/>
            <a:r>
              <a:rPr sz="850" b="0" i="0">
                <a:solidFill>
                  <a:srgbClr val="595959"/>
                </a:solidFill>
                <a:latin typeface="Calibri"/>
              </a:rPr>
              <a:t>Northstar Analytics · prepared by Priya Shah, VP Finance · 17 August 2026</a:t>
            </a:r>
          </a:p>
        </p:txBody>
      </p:sp>
      <p:sp>
        <p:nvSpPr>
          <p:cNvPr id="8" name="TextBox 7"/>
          <p:cNvSpPr txBox="1"/>
          <p:nvPr/>
        </p:nvSpPr>
        <p:spPr>
          <a:xfrm>
            <a:off x="10527487" y="6382512"/>
            <a:ext cx="1097280" cy="237744"/>
          </a:xfrm>
          <a:prstGeom prst="rect">
            <a:avLst/>
          </a:prstGeom>
          <a:noFill/>
        </p:spPr>
        <p:txBody>
          <a:bodyPr wrap="square" lIns="0" rIns="0" tIns="0" bIns="0" anchor="t">
            <a:spAutoFit/>
          </a:bodyPr>
          <a:lstStyle/>
          <a:p>
            <a:pPr algn="r"/>
            <a:r>
              <a:rPr sz="850" b="0" i="0">
                <a:solidFill>
                  <a:srgbClr val="595959"/>
                </a:solidFill>
                <a:latin typeface="Calibri"/>
              </a:rPr>
              <a:t>9</a:t>
            </a:r>
          </a:p>
        </p:txBody>
      </p:sp>
      <p:sp>
        <p:nvSpPr>
          <p:cNvPr id="9" name="Rectangle 8"/>
          <p:cNvSpPr/>
          <p:nvPr/>
        </p:nvSpPr>
        <p:spPr>
          <a:xfrm>
            <a:off x="566928" y="1463040"/>
            <a:ext cx="1051560" cy="3810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618488" y="1463040"/>
            <a:ext cx="10006279" cy="3810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5541264"/>
            <a:ext cx="11057839" cy="566928"/>
          </a:xfrm>
          <a:prstGeom prst="rect">
            <a:avLst/>
          </a:prstGeom>
          <a:solidFill>
            <a:srgbClr val="EF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a:lstStyle/>
          <a:p>
            <a:r>
              <a:rPr sz="1000" b="1">
                <a:solidFill>
                  <a:srgbClr val="1F4E79"/>
                </a:solidFill>
                <a:latin typeface="Calibri"/>
              </a:rPr>
              <a:t>So what   </a:t>
            </a:r>
            <a:r>
              <a:rPr sz="1150">
                <a:solidFill>
                  <a:srgbClr val="262626"/>
                </a:solidFill>
                <a:latin typeface="Calibri"/>
              </a:rPr>
              <a:t>Three decisions today; Finance owns the rate, GTM owns partner attach.</a:t>
            </a:r>
          </a:p>
        </p:txBody>
      </p:sp>
      <p:sp>
        <p:nvSpPr>
          <p:cNvPr id="12" name="Rectangle 11"/>
          <p:cNvSpPr/>
          <p:nvPr/>
        </p:nvSpPr>
        <p:spPr>
          <a:xfrm>
            <a:off x="566928" y="5541264"/>
            <a:ext cx="4445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66928" y="658368"/>
            <a:ext cx="11057839" cy="749808"/>
          </a:xfrm>
        </p:spPr>
        <p:txBody>
          <a:bodyPr wrap="square" lIns="0" bIns="0" tIns="0" anchor="b"/>
          <a:lstStyle/>
          <a:p>
            <a:pPr algn="l"/>
            <a:r>
              <a:rPr sz="2600" b="0">
                <a:solidFill>
                  <a:srgbClr val="1F4E79"/>
                </a:solidFill>
                <a:latin typeface="Calibri Light"/>
              </a:rPr>
              <a:t>Appendix A — FY2024 bookings by region</a:t>
            </a:r>
          </a:p>
        </p:txBody>
      </p:sp>
      <p:sp>
        <p:nvSpPr>
          <p:cNvPr id="3" name="Body"/>
          <p:cNvSpPr>
            <a:spLocks noGrp="1"/>
          </p:cNvSpPr>
          <p:nvPr>
            <p:ph idx="1"/>
          </p:nvPr>
        </p:nvSpPr>
        <p:spPr>
          <a:xfrm>
            <a:off x="566928" y="1783080"/>
            <a:ext cx="11057839" cy="3657600"/>
          </a:xfrm>
        </p:spPr>
        <p:txBody>
          <a:bodyPr wrap="square" lIns="0" tIns="0"/>
          <a:lstStyle/>
          <a:p>
            <a:pPr>
              <a:spcAft>
                <a:spcPts val="900"/>
              </a:spcAft>
            </a:pPr>
            <a:r>
              <a:rPr sz="1350">
                <a:solidFill>
                  <a:srgbClr val="262626"/>
                </a:solidFill>
                <a:latin typeface="Calibri"/>
              </a:rPr>
              <a:t>AMER East and AMER West together made up 61% of FY2024 bookings.</a:t>
            </a:r>
          </a:p>
          <a:p>
            <a:pPr>
              <a:spcAft>
                <a:spcPts val="900"/>
              </a:spcAft>
            </a:pPr>
            <a:r>
              <a:rPr sz="1350">
                <a:solidFill>
                  <a:srgbClr val="262626"/>
                </a:solidFill>
                <a:latin typeface="Calibri"/>
              </a:rPr>
              <a:t>EMEA grew fastest off a small base; APAC was concentrated in three logos.</a:t>
            </a:r>
          </a:p>
          <a:p>
            <a:pPr>
              <a:spcAft>
                <a:spcPts val="900"/>
              </a:spcAft>
            </a:pPr>
            <a:r>
              <a:rPr sz="1350">
                <a:solidFill>
                  <a:srgbClr val="262626"/>
                </a:solidFill>
                <a:latin typeface="Calibri"/>
              </a:rPr>
              <a:t>Figures are as reported in FY2024 and are not restated for the current segmentation.</a:t>
            </a:r>
          </a:p>
        </p:txBody>
      </p:sp>
      <p:sp>
        <p:nvSpPr>
          <p:cNvPr id="4" name="Rectangle 3"/>
          <p:cNvSpPr/>
          <p:nvPr/>
        </p:nvSpPr>
        <p:spPr>
          <a:xfrm>
            <a:off x="0" y="0"/>
            <a:ext cx="12191695"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0" bIns="0"/>
          <a:lstStyle/>
          <a:p>
            <a:r>
              <a:rPr sz="900" b="1">
                <a:solidFill>
                  <a:srgbClr val="FFFFFF"/>
                </a:solidFill>
                <a:latin typeface="Calibri"/>
              </a:rPr>
              <a:t>NORTHSTAR ANALYTICS   |   FY2026 Q3 BOARD PACK</a:t>
            </a:r>
          </a:p>
        </p:txBody>
      </p:sp>
      <p:sp>
        <p:nvSpPr>
          <p:cNvPr id="5" name="TextBox 4"/>
          <p:cNvSpPr txBox="1"/>
          <p:nvPr/>
        </p:nvSpPr>
        <p:spPr>
          <a:xfrm>
            <a:off x="9997135" y="82296"/>
            <a:ext cx="1627632" cy="219456"/>
          </a:xfrm>
          <a:prstGeom prst="rect">
            <a:avLst/>
          </a:prstGeom>
          <a:noFill/>
        </p:spPr>
        <p:txBody>
          <a:bodyPr wrap="square" lIns="0" rIns="0" tIns="0" bIns="0" anchor="t">
            <a:spAutoFit/>
          </a:bodyPr>
          <a:lstStyle/>
          <a:p>
            <a:pPr algn="r"/>
            <a:r>
              <a:rPr sz="900" b="1" i="0">
                <a:solidFill>
                  <a:srgbClr val="FFF2CC"/>
                </a:solidFill>
                <a:latin typeface="Calibri"/>
              </a:rPr>
              <a:t>CONFIDENTIAL</a:t>
            </a:r>
          </a:p>
        </p:txBody>
      </p:sp>
      <p:sp>
        <p:nvSpPr>
          <p:cNvPr id="6" name="Rectangle 5"/>
          <p:cNvSpPr/>
          <p:nvPr/>
        </p:nvSpPr>
        <p:spPr>
          <a:xfrm>
            <a:off x="566928" y="6272784"/>
            <a:ext cx="11057839"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6382512"/>
            <a:ext cx="7863840" cy="237744"/>
          </a:xfrm>
          <a:prstGeom prst="rect">
            <a:avLst/>
          </a:prstGeom>
          <a:noFill/>
        </p:spPr>
        <p:txBody>
          <a:bodyPr wrap="square" lIns="0" rIns="0" tIns="0" bIns="0" anchor="t">
            <a:spAutoFit/>
          </a:bodyPr>
          <a:lstStyle/>
          <a:p>
            <a:pPr algn="l"/>
            <a:r>
              <a:rPr sz="850" b="0" i="0">
                <a:solidFill>
                  <a:srgbClr val="595959"/>
                </a:solidFill>
                <a:latin typeface="Calibri"/>
              </a:rPr>
              <a:t>Northstar Analytics · prepared by Priya Shah, VP Finance · 17 August 2026</a:t>
            </a:r>
          </a:p>
        </p:txBody>
      </p:sp>
      <p:sp>
        <p:nvSpPr>
          <p:cNvPr id="8" name="TextBox 7"/>
          <p:cNvSpPr txBox="1"/>
          <p:nvPr/>
        </p:nvSpPr>
        <p:spPr>
          <a:xfrm>
            <a:off x="10527487" y="6382512"/>
            <a:ext cx="1097280" cy="237744"/>
          </a:xfrm>
          <a:prstGeom prst="rect">
            <a:avLst/>
          </a:prstGeom>
          <a:noFill/>
        </p:spPr>
        <p:txBody>
          <a:bodyPr wrap="square" lIns="0" rIns="0" tIns="0" bIns="0" anchor="t">
            <a:spAutoFit/>
          </a:bodyPr>
          <a:lstStyle/>
          <a:p>
            <a:pPr algn="r"/>
            <a:r>
              <a:rPr sz="850" b="0" i="0">
                <a:solidFill>
                  <a:srgbClr val="595959"/>
                </a:solidFill>
                <a:latin typeface="Calibri"/>
              </a:rPr>
              <a:t>10</a:t>
            </a:r>
          </a:p>
        </p:txBody>
      </p:sp>
      <p:sp>
        <p:nvSpPr>
          <p:cNvPr id="9" name="TextBox 8"/>
          <p:cNvSpPr txBox="1"/>
          <p:nvPr/>
        </p:nvSpPr>
        <p:spPr>
          <a:xfrm>
            <a:off x="566928" y="429768"/>
            <a:ext cx="11057839" cy="182880"/>
          </a:xfrm>
          <a:prstGeom prst="rect">
            <a:avLst/>
          </a:prstGeom>
          <a:noFill/>
        </p:spPr>
        <p:txBody>
          <a:bodyPr wrap="square" lIns="0" rIns="0" tIns="0" bIns="0" anchor="t">
            <a:spAutoFit/>
          </a:bodyPr>
          <a:lstStyle/>
          <a:p>
            <a:pPr algn="l"/>
            <a:r>
              <a:rPr sz="900" b="1" i="0">
                <a:solidFill>
                  <a:srgbClr val="BF8F00"/>
                </a:solidFill>
                <a:latin typeface="Calibri"/>
              </a:rPr>
              <a:t>APPENDIX — HISTORICAL, DO NOT RESTATE</a:t>
            </a:r>
          </a:p>
        </p:txBody>
      </p:sp>
      <p:sp>
        <p:nvSpPr>
          <p:cNvPr id="10" name="Rectangle 9"/>
          <p:cNvSpPr/>
          <p:nvPr/>
        </p:nvSpPr>
        <p:spPr>
          <a:xfrm>
            <a:off x="566928" y="1463040"/>
            <a:ext cx="1051560" cy="3810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618488" y="1463040"/>
            <a:ext cx="10006279" cy="3810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ixNote"/>
          <p:cNvSpPr txBox="1"/>
          <p:nvPr/>
        </p:nvSpPr>
        <p:spPr>
          <a:xfrm>
            <a:off x="566928" y="5760720"/>
            <a:ext cx="3840480" cy="274320"/>
          </a:xfrm>
          <a:prstGeom prst="rect">
            <a:avLst/>
          </a:prstGeom>
          <a:noFill/>
        </p:spPr>
        <p:txBody>
          <a:bodyPr wrap="square" lIns="0" rIns="0" tIns="0" bIns="0" anchor="t">
            <a:spAutoFit/>
          </a:bodyPr>
          <a:lstStyle/>
          <a:p>
            <a:pPr algn="l"/>
            <a:r>
              <a:rPr sz="1000" b="0" i="1">
                <a:solidFill>
                  <a:srgbClr val="595959"/>
                </a:solidFill>
                <a:latin typeface="Calibri"/>
              </a:rPr>
              <a:t>Appendix FY mix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66928" y="658368"/>
            <a:ext cx="11057839" cy="749808"/>
          </a:xfrm>
        </p:spPr>
        <p:txBody>
          <a:bodyPr wrap="square" lIns="0" bIns="0" tIns="0" anchor="b"/>
          <a:lstStyle/>
          <a:p>
            <a:pPr algn="l"/>
            <a:r>
              <a:rPr sz="2600" b="0">
                <a:solidFill>
                  <a:srgbClr val="1F4E79"/>
                </a:solidFill>
                <a:latin typeface="Calibri Light"/>
              </a:rPr>
              <a:t>Appendix B — FY2024 bookings by product</a:t>
            </a:r>
          </a:p>
        </p:txBody>
      </p:sp>
      <p:sp>
        <p:nvSpPr>
          <p:cNvPr id="3" name="Body"/>
          <p:cNvSpPr>
            <a:spLocks noGrp="1"/>
          </p:cNvSpPr>
          <p:nvPr>
            <p:ph idx="1"/>
          </p:nvPr>
        </p:nvSpPr>
        <p:spPr>
          <a:xfrm>
            <a:off x="566928" y="1783080"/>
            <a:ext cx="11057839" cy="3657600"/>
          </a:xfrm>
        </p:spPr>
        <p:txBody>
          <a:bodyPr wrap="square" lIns="0" tIns="0"/>
          <a:lstStyle/>
          <a:p>
            <a:pPr>
              <a:spcAft>
                <a:spcPts val="900"/>
              </a:spcAft>
            </a:pPr>
            <a:r>
              <a:rPr sz="1350">
                <a:solidFill>
                  <a:srgbClr val="262626"/>
                </a:solidFill>
                <a:latin typeface="Calibri"/>
              </a:rPr>
              <a:t>Signal Core carried 48% of bookings; Signal Pro 24%.</a:t>
            </a:r>
          </a:p>
          <a:p>
            <a:pPr>
              <a:spcAft>
                <a:spcPts val="900"/>
              </a:spcAft>
            </a:pPr>
            <a:r>
              <a:rPr sz="1350">
                <a:solidFill>
                  <a:srgbClr val="262626"/>
                </a:solidFill>
                <a:latin typeface="Calibri"/>
              </a:rPr>
              <a:t>Warehouse Connect launched mid-year and reached 12% by Q4 FY2024.</a:t>
            </a:r>
          </a:p>
          <a:p>
            <a:pPr>
              <a:spcAft>
                <a:spcPts val="900"/>
              </a:spcAft>
            </a:pPr>
            <a:r>
              <a:rPr sz="1350">
                <a:solidFill>
                  <a:srgbClr val="262626"/>
                </a:solidFill>
                <a:latin typeface="Calibri"/>
              </a:rPr>
              <a:t>Add-on attach rates are shown on the tab FY2024-12 of the workbook.</a:t>
            </a:r>
          </a:p>
        </p:txBody>
      </p:sp>
      <p:sp>
        <p:nvSpPr>
          <p:cNvPr id="4" name="Rectangle 3"/>
          <p:cNvSpPr/>
          <p:nvPr/>
        </p:nvSpPr>
        <p:spPr>
          <a:xfrm>
            <a:off x="0" y="0"/>
            <a:ext cx="12191695"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0" bIns="0"/>
          <a:lstStyle/>
          <a:p>
            <a:r>
              <a:rPr sz="900" b="1">
                <a:solidFill>
                  <a:srgbClr val="FFFFFF"/>
                </a:solidFill>
                <a:latin typeface="Calibri"/>
              </a:rPr>
              <a:t>NORTHSTAR ANALYTICS   |   FY2026 Q3 BOARD PACK</a:t>
            </a:r>
          </a:p>
        </p:txBody>
      </p:sp>
      <p:sp>
        <p:nvSpPr>
          <p:cNvPr id="5" name="TextBox 4"/>
          <p:cNvSpPr txBox="1"/>
          <p:nvPr/>
        </p:nvSpPr>
        <p:spPr>
          <a:xfrm>
            <a:off x="9997135" y="82296"/>
            <a:ext cx="1627632" cy="219456"/>
          </a:xfrm>
          <a:prstGeom prst="rect">
            <a:avLst/>
          </a:prstGeom>
          <a:noFill/>
        </p:spPr>
        <p:txBody>
          <a:bodyPr wrap="square" lIns="0" rIns="0" tIns="0" bIns="0" anchor="t">
            <a:spAutoFit/>
          </a:bodyPr>
          <a:lstStyle/>
          <a:p>
            <a:pPr algn="r"/>
            <a:r>
              <a:rPr sz="900" b="1" i="0">
                <a:solidFill>
                  <a:srgbClr val="FFF2CC"/>
                </a:solidFill>
                <a:latin typeface="Calibri"/>
              </a:rPr>
              <a:t>CONFIDENTIAL</a:t>
            </a:r>
          </a:p>
        </p:txBody>
      </p:sp>
      <p:sp>
        <p:nvSpPr>
          <p:cNvPr id="6" name="Rectangle 5"/>
          <p:cNvSpPr/>
          <p:nvPr/>
        </p:nvSpPr>
        <p:spPr>
          <a:xfrm>
            <a:off x="566928" y="6272784"/>
            <a:ext cx="11057839"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6382512"/>
            <a:ext cx="7863840" cy="237744"/>
          </a:xfrm>
          <a:prstGeom prst="rect">
            <a:avLst/>
          </a:prstGeom>
          <a:noFill/>
        </p:spPr>
        <p:txBody>
          <a:bodyPr wrap="square" lIns="0" rIns="0" tIns="0" bIns="0" anchor="t">
            <a:spAutoFit/>
          </a:bodyPr>
          <a:lstStyle/>
          <a:p>
            <a:pPr algn="l"/>
            <a:r>
              <a:rPr sz="850" b="0" i="0">
                <a:solidFill>
                  <a:srgbClr val="595959"/>
                </a:solidFill>
                <a:latin typeface="Calibri"/>
              </a:rPr>
              <a:t>Northstar Analytics · prepared by Priya Shah, VP Finance · 17 August 2026</a:t>
            </a:r>
          </a:p>
        </p:txBody>
      </p:sp>
      <p:sp>
        <p:nvSpPr>
          <p:cNvPr id="8" name="TextBox 7"/>
          <p:cNvSpPr txBox="1"/>
          <p:nvPr/>
        </p:nvSpPr>
        <p:spPr>
          <a:xfrm>
            <a:off x="10527487" y="6382512"/>
            <a:ext cx="1097280" cy="237744"/>
          </a:xfrm>
          <a:prstGeom prst="rect">
            <a:avLst/>
          </a:prstGeom>
          <a:noFill/>
        </p:spPr>
        <p:txBody>
          <a:bodyPr wrap="square" lIns="0" rIns="0" tIns="0" bIns="0" anchor="t">
            <a:spAutoFit/>
          </a:bodyPr>
          <a:lstStyle/>
          <a:p>
            <a:pPr algn="r"/>
            <a:r>
              <a:rPr sz="850" b="0" i="0">
                <a:solidFill>
                  <a:srgbClr val="595959"/>
                </a:solidFill>
                <a:latin typeface="Calibri"/>
              </a:rPr>
              <a:t>11</a:t>
            </a:r>
          </a:p>
        </p:txBody>
      </p:sp>
      <p:sp>
        <p:nvSpPr>
          <p:cNvPr id="9" name="TextBox 8"/>
          <p:cNvSpPr txBox="1"/>
          <p:nvPr/>
        </p:nvSpPr>
        <p:spPr>
          <a:xfrm>
            <a:off x="566928" y="429768"/>
            <a:ext cx="11057839" cy="182880"/>
          </a:xfrm>
          <a:prstGeom prst="rect">
            <a:avLst/>
          </a:prstGeom>
          <a:noFill/>
        </p:spPr>
        <p:txBody>
          <a:bodyPr wrap="square" lIns="0" rIns="0" tIns="0" bIns="0" anchor="t">
            <a:spAutoFit/>
          </a:bodyPr>
          <a:lstStyle/>
          <a:p>
            <a:pPr algn="l"/>
            <a:r>
              <a:rPr sz="900" b="1" i="0">
                <a:solidFill>
                  <a:srgbClr val="BF8F00"/>
                </a:solidFill>
                <a:latin typeface="Calibri"/>
              </a:rPr>
              <a:t>APPENDIX — HISTORICAL, DO NOT RESTATE</a:t>
            </a:r>
          </a:p>
        </p:txBody>
      </p:sp>
      <p:sp>
        <p:nvSpPr>
          <p:cNvPr id="10" name="Rectangle 9"/>
          <p:cNvSpPr/>
          <p:nvPr/>
        </p:nvSpPr>
        <p:spPr>
          <a:xfrm>
            <a:off x="566928" y="1463040"/>
            <a:ext cx="1051560" cy="3810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618488" y="1463040"/>
            <a:ext cx="10006279" cy="3810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ixNote"/>
          <p:cNvSpPr txBox="1"/>
          <p:nvPr/>
        </p:nvSpPr>
        <p:spPr>
          <a:xfrm>
            <a:off x="566928" y="5760720"/>
            <a:ext cx="3840480" cy="274320"/>
          </a:xfrm>
          <a:prstGeom prst="rect">
            <a:avLst/>
          </a:prstGeom>
          <a:noFill/>
        </p:spPr>
        <p:txBody>
          <a:bodyPr wrap="square" lIns="0" rIns="0" tIns="0" bIns="0" anchor="t">
            <a:spAutoFit/>
          </a:bodyPr>
          <a:lstStyle/>
          <a:p>
            <a:pPr algn="l"/>
            <a:r>
              <a:rPr sz="1000" b="0" i="1">
                <a:solidFill>
                  <a:srgbClr val="595959"/>
                </a:solidFill>
                <a:latin typeface="Calibri"/>
              </a:rPr>
              <a:t>Appendix FY mix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66928" y="658368"/>
            <a:ext cx="11057839" cy="749808"/>
          </a:xfrm>
        </p:spPr>
        <p:txBody>
          <a:bodyPr wrap="square" lIns="0" bIns="0" tIns="0" anchor="b"/>
          <a:lstStyle/>
          <a:p>
            <a:pPr algn="l"/>
            <a:r>
              <a:rPr sz="2600" b="0">
                <a:solidFill>
                  <a:srgbClr val="1F4E79"/>
                </a:solidFill>
                <a:latin typeface="Calibri Light"/>
              </a:rPr>
              <a:t>Appendix C — FY2024 segment mix</a:t>
            </a:r>
          </a:p>
        </p:txBody>
      </p:sp>
      <p:sp>
        <p:nvSpPr>
          <p:cNvPr id="3" name="Body"/>
          <p:cNvSpPr>
            <a:spLocks noGrp="1"/>
          </p:cNvSpPr>
          <p:nvPr>
            <p:ph idx="1"/>
          </p:nvPr>
        </p:nvSpPr>
        <p:spPr>
          <a:xfrm>
            <a:off x="566928" y="1783080"/>
            <a:ext cx="11057839" cy="3657600"/>
          </a:xfrm>
        </p:spPr>
        <p:txBody>
          <a:bodyPr wrap="square" lIns="0" tIns="0"/>
          <a:lstStyle/>
          <a:p>
            <a:pPr>
              <a:spcAft>
                <a:spcPts val="900"/>
              </a:spcAft>
            </a:pPr>
            <a:r>
              <a:rPr sz="1350">
                <a:solidFill>
                  <a:srgbClr val="262626"/>
                </a:solidFill>
                <a:latin typeface="Calibri"/>
              </a:rPr>
              <a:t>Enterprise 44%, mid-market 39%, SMB 17% of FY2024 bookings.</a:t>
            </a:r>
          </a:p>
          <a:p>
            <a:pPr>
              <a:spcAft>
                <a:spcPts val="900"/>
              </a:spcAft>
            </a:pPr>
            <a:r>
              <a:rPr sz="1350">
                <a:solidFill>
                  <a:srgbClr val="262626"/>
                </a:solidFill>
                <a:latin typeface="Calibri"/>
              </a:rPr>
              <a:t>SMB share has fallen every quarter since; the Q3 FY2026 figure is 11%.</a:t>
            </a:r>
          </a:p>
        </p:txBody>
      </p:sp>
      <p:sp>
        <p:nvSpPr>
          <p:cNvPr id="4" name="Rectangle 3"/>
          <p:cNvSpPr/>
          <p:nvPr/>
        </p:nvSpPr>
        <p:spPr>
          <a:xfrm>
            <a:off x="0" y="0"/>
            <a:ext cx="12191695"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0" bIns="0"/>
          <a:lstStyle/>
          <a:p>
            <a:r>
              <a:rPr sz="900" b="1">
                <a:solidFill>
                  <a:srgbClr val="FFFFFF"/>
                </a:solidFill>
                <a:latin typeface="Calibri"/>
              </a:rPr>
              <a:t>NORTHSTAR ANALYTICS   |   FY2026 Q3 BOARD PACK</a:t>
            </a:r>
          </a:p>
        </p:txBody>
      </p:sp>
      <p:sp>
        <p:nvSpPr>
          <p:cNvPr id="5" name="TextBox 4"/>
          <p:cNvSpPr txBox="1"/>
          <p:nvPr/>
        </p:nvSpPr>
        <p:spPr>
          <a:xfrm>
            <a:off x="9997135" y="82296"/>
            <a:ext cx="1627632" cy="219456"/>
          </a:xfrm>
          <a:prstGeom prst="rect">
            <a:avLst/>
          </a:prstGeom>
          <a:noFill/>
        </p:spPr>
        <p:txBody>
          <a:bodyPr wrap="square" lIns="0" rIns="0" tIns="0" bIns="0" anchor="t">
            <a:spAutoFit/>
          </a:bodyPr>
          <a:lstStyle/>
          <a:p>
            <a:pPr algn="r"/>
            <a:r>
              <a:rPr sz="900" b="1" i="0">
                <a:solidFill>
                  <a:srgbClr val="FFF2CC"/>
                </a:solidFill>
                <a:latin typeface="Calibri"/>
              </a:rPr>
              <a:t>CONFIDENTIAL</a:t>
            </a:r>
          </a:p>
        </p:txBody>
      </p:sp>
      <p:sp>
        <p:nvSpPr>
          <p:cNvPr id="6" name="Rectangle 5"/>
          <p:cNvSpPr/>
          <p:nvPr/>
        </p:nvSpPr>
        <p:spPr>
          <a:xfrm>
            <a:off x="566928" y="6272784"/>
            <a:ext cx="11057839"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6382512"/>
            <a:ext cx="7863840" cy="237744"/>
          </a:xfrm>
          <a:prstGeom prst="rect">
            <a:avLst/>
          </a:prstGeom>
          <a:noFill/>
        </p:spPr>
        <p:txBody>
          <a:bodyPr wrap="square" lIns="0" rIns="0" tIns="0" bIns="0" anchor="t">
            <a:spAutoFit/>
          </a:bodyPr>
          <a:lstStyle/>
          <a:p>
            <a:pPr algn="l"/>
            <a:r>
              <a:rPr sz="850" b="0" i="0">
                <a:solidFill>
                  <a:srgbClr val="595959"/>
                </a:solidFill>
                <a:latin typeface="Calibri"/>
              </a:rPr>
              <a:t>Northstar Analytics · prepared by Priya Shah, VP Finance · 17 August 2026</a:t>
            </a:r>
          </a:p>
        </p:txBody>
      </p:sp>
      <p:sp>
        <p:nvSpPr>
          <p:cNvPr id="8" name="TextBox 7"/>
          <p:cNvSpPr txBox="1"/>
          <p:nvPr/>
        </p:nvSpPr>
        <p:spPr>
          <a:xfrm>
            <a:off x="10527487" y="6382512"/>
            <a:ext cx="1097280" cy="237744"/>
          </a:xfrm>
          <a:prstGeom prst="rect">
            <a:avLst/>
          </a:prstGeom>
          <a:noFill/>
        </p:spPr>
        <p:txBody>
          <a:bodyPr wrap="square" lIns="0" rIns="0" tIns="0" bIns="0" anchor="t">
            <a:spAutoFit/>
          </a:bodyPr>
          <a:lstStyle/>
          <a:p>
            <a:pPr algn="r"/>
            <a:r>
              <a:rPr sz="850" b="0" i="0">
                <a:solidFill>
                  <a:srgbClr val="595959"/>
                </a:solidFill>
                <a:latin typeface="Calibri"/>
              </a:rPr>
              <a:t>12</a:t>
            </a:r>
          </a:p>
        </p:txBody>
      </p:sp>
      <p:sp>
        <p:nvSpPr>
          <p:cNvPr id="9" name="TextBox 8"/>
          <p:cNvSpPr txBox="1"/>
          <p:nvPr/>
        </p:nvSpPr>
        <p:spPr>
          <a:xfrm>
            <a:off x="566928" y="429768"/>
            <a:ext cx="11057839" cy="182880"/>
          </a:xfrm>
          <a:prstGeom prst="rect">
            <a:avLst/>
          </a:prstGeom>
          <a:noFill/>
        </p:spPr>
        <p:txBody>
          <a:bodyPr wrap="square" lIns="0" rIns="0" tIns="0" bIns="0" anchor="t">
            <a:spAutoFit/>
          </a:bodyPr>
          <a:lstStyle/>
          <a:p>
            <a:pPr algn="l"/>
            <a:r>
              <a:rPr sz="900" b="1" i="0">
                <a:solidFill>
                  <a:srgbClr val="BF8F00"/>
                </a:solidFill>
                <a:latin typeface="Calibri"/>
              </a:rPr>
              <a:t>APPENDIX — HISTORICAL, DO NOT RESTATE</a:t>
            </a:r>
          </a:p>
        </p:txBody>
      </p:sp>
      <p:sp>
        <p:nvSpPr>
          <p:cNvPr id="10" name="Rectangle 9"/>
          <p:cNvSpPr/>
          <p:nvPr/>
        </p:nvSpPr>
        <p:spPr>
          <a:xfrm>
            <a:off x="566928" y="1463040"/>
            <a:ext cx="1051560" cy="3810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618488" y="1463040"/>
            <a:ext cx="10006279" cy="3810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ixNote"/>
          <p:cNvSpPr txBox="1"/>
          <p:nvPr/>
        </p:nvSpPr>
        <p:spPr>
          <a:xfrm>
            <a:off x="566928" y="5760720"/>
            <a:ext cx="3840480" cy="274320"/>
          </a:xfrm>
          <a:prstGeom prst="rect">
            <a:avLst/>
          </a:prstGeom>
          <a:noFill/>
        </p:spPr>
        <p:txBody>
          <a:bodyPr wrap="square" lIns="0" rIns="0" tIns="0" bIns="0" anchor="t">
            <a:spAutoFit/>
          </a:bodyPr>
          <a:lstStyle/>
          <a:p>
            <a:pPr algn="l"/>
            <a:r>
              <a:rPr sz="1000" b="0" i="1">
                <a:solidFill>
                  <a:srgbClr val="595959"/>
                </a:solidFill>
                <a:latin typeface="Calibri"/>
              </a:rPr>
              <a:t>Appendix FY mix 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66928" y="658368"/>
            <a:ext cx="11057839" cy="749808"/>
          </a:xfrm>
        </p:spPr>
        <p:txBody>
          <a:bodyPr wrap="square" lIns="0" bIns="0" tIns="0" anchor="b"/>
          <a:lstStyle/>
          <a:p>
            <a:pPr algn="l"/>
            <a:r>
              <a:rPr sz="2600" b="0">
                <a:solidFill>
                  <a:srgbClr val="1F4E79"/>
                </a:solidFill>
                <a:latin typeface="Calibri Light"/>
              </a:rPr>
              <a:t>Appendix D — FY2024 promotional history</a:t>
            </a:r>
          </a:p>
        </p:txBody>
      </p:sp>
      <p:sp>
        <p:nvSpPr>
          <p:cNvPr id="3" name="Body"/>
          <p:cNvSpPr>
            <a:spLocks noGrp="1"/>
          </p:cNvSpPr>
          <p:nvPr>
            <p:ph idx="1"/>
          </p:nvPr>
        </p:nvSpPr>
        <p:spPr>
          <a:xfrm>
            <a:off x="566928" y="1783080"/>
            <a:ext cx="11057839" cy="3657600"/>
          </a:xfrm>
        </p:spPr>
        <p:txBody>
          <a:bodyPr wrap="square" lIns="0" tIns="0"/>
          <a:lstStyle/>
          <a:p>
            <a:pPr>
              <a:spcAft>
                <a:spcPts val="900"/>
              </a:spcAft>
            </a:pPr>
            <a:r>
              <a:rPr sz="1350">
                <a:solidFill>
                  <a:srgbClr val="262626"/>
                </a:solidFill>
                <a:latin typeface="Calibri"/>
              </a:rPr>
              <a:t>The FY2024 channel promotion is closed and is not available in FY2026.</a:t>
            </a:r>
          </a:p>
          <a:p>
            <a:pPr>
              <a:spcAft>
                <a:spcPts val="900"/>
              </a:spcAft>
            </a:pPr>
            <a:r>
              <a:rPr sz="1350">
                <a:solidFill>
                  <a:srgbClr val="262626"/>
                </a:solidFill>
                <a:latin typeface="Calibri"/>
              </a:rPr>
              <a:t>Rebates from that programme are footnoted on each FY2024 monthly tab.</a:t>
            </a:r>
          </a:p>
        </p:txBody>
      </p:sp>
      <p:sp>
        <p:nvSpPr>
          <p:cNvPr id="4" name="Rectangle 3"/>
          <p:cNvSpPr/>
          <p:nvPr/>
        </p:nvSpPr>
        <p:spPr>
          <a:xfrm>
            <a:off x="0" y="0"/>
            <a:ext cx="12191695"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0" bIns="0"/>
          <a:lstStyle/>
          <a:p>
            <a:r>
              <a:rPr sz="900" b="1">
                <a:solidFill>
                  <a:srgbClr val="FFFFFF"/>
                </a:solidFill>
                <a:latin typeface="Calibri"/>
              </a:rPr>
              <a:t>NORTHSTAR ANALYTICS   |   FY2026 Q3 BOARD PACK</a:t>
            </a:r>
          </a:p>
        </p:txBody>
      </p:sp>
      <p:sp>
        <p:nvSpPr>
          <p:cNvPr id="5" name="TextBox 4"/>
          <p:cNvSpPr txBox="1"/>
          <p:nvPr/>
        </p:nvSpPr>
        <p:spPr>
          <a:xfrm>
            <a:off x="9997135" y="82296"/>
            <a:ext cx="1627632" cy="219456"/>
          </a:xfrm>
          <a:prstGeom prst="rect">
            <a:avLst/>
          </a:prstGeom>
          <a:noFill/>
        </p:spPr>
        <p:txBody>
          <a:bodyPr wrap="square" lIns="0" rIns="0" tIns="0" bIns="0" anchor="t">
            <a:spAutoFit/>
          </a:bodyPr>
          <a:lstStyle/>
          <a:p>
            <a:pPr algn="r"/>
            <a:r>
              <a:rPr sz="900" b="1" i="0">
                <a:solidFill>
                  <a:srgbClr val="FFF2CC"/>
                </a:solidFill>
                <a:latin typeface="Calibri"/>
              </a:rPr>
              <a:t>CONFIDENTIAL</a:t>
            </a:r>
          </a:p>
        </p:txBody>
      </p:sp>
      <p:sp>
        <p:nvSpPr>
          <p:cNvPr id="6" name="Rectangle 5"/>
          <p:cNvSpPr/>
          <p:nvPr/>
        </p:nvSpPr>
        <p:spPr>
          <a:xfrm>
            <a:off x="566928" y="6272784"/>
            <a:ext cx="11057839"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6382512"/>
            <a:ext cx="7863840" cy="237744"/>
          </a:xfrm>
          <a:prstGeom prst="rect">
            <a:avLst/>
          </a:prstGeom>
          <a:noFill/>
        </p:spPr>
        <p:txBody>
          <a:bodyPr wrap="square" lIns="0" rIns="0" tIns="0" bIns="0" anchor="t">
            <a:spAutoFit/>
          </a:bodyPr>
          <a:lstStyle/>
          <a:p>
            <a:pPr algn="l"/>
            <a:r>
              <a:rPr sz="850" b="0" i="0">
                <a:solidFill>
                  <a:srgbClr val="595959"/>
                </a:solidFill>
                <a:latin typeface="Calibri"/>
              </a:rPr>
              <a:t>Northstar Analytics · prepared by Priya Shah, VP Finance · 17 August 2026</a:t>
            </a:r>
          </a:p>
        </p:txBody>
      </p:sp>
      <p:sp>
        <p:nvSpPr>
          <p:cNvPr id="8" name="TextBox 7"/>
          <p:cNvSpPr txBox="1"/>
          <p:nvPr/>
        </p:nvSpPr>
        <p:spPr>
          <a:xfrm>
            <a:off x="10527487" y="6382512"/>
            <a:ext cx="1097280" cy="237744"/>
          </a:xfrm>
          <a:prstGeom prst="rect">
            <a:avLst/>
          </a:prstGeom>
          <a:noFill/>
        </p:spPr>
        <p:txBody>
          <a:bodyPr wrap="square" lIns="0" rIns="0" tIns="0" bIns="0" anchor="t">
            <a:spAutoFit/>
          </a:bodyPr>
          <a:lstStyle/>
          <a:p>
            <a:pPr algn="r"/>
            <a:r>
              <a:rPr sz="850" b="0" i="0">
                <a:solidFill>
                  <a:srgbClr val="595959"/>
                </a:solidFill>
                <a:latin typeface="Calibri"/>
              </a:rPr>
              <a:t>13</a:t>
            </a:r>
          </a:p>
        </p:txBody>
      </p:sp>
      <p:sp>
        <p:nvSpPr>
          <p:cNvPr id="9" name="TextBox 8"/>
          <p:cNvSpPr txBox="1"/>
          <p:nvPr/>
        </p:nvSpPr>
        <p:spPr>
          <a:xfrm>
            <a:off x="566928" y="429768"/>
            <a:ext cx="11057839" cy="182880"/>
          </a:xfrm>
          <a:prstGeom prst="rect">
            <a:avLst/>
          </a:prstGeom>
          <a:noFill/>
        </p:spPr>
        <p:txBody>
          <a:bodyPr wrap="square" lIns="0" rIns="0" tIns="0" bIns="0" anchor="t">
            <a:spAutoFit/>
          </a:bodyPr>
          <a:lstStyle/>
          <a:p>
            <a:pPr algn="l"/>
            <a:r>
              <a:rPr sz="900" b="1" i="0">
                <a:solidFill>
                  <a:srgbClr val="BF8F00"/>
                </a:solidFill>
                <a:latin typeface="Calibri"/>
              </a:rPr>
              <a:t>APPENDIX — HISTORICAL, DO NOT RESTATE</a:t>
            </a:r>
          </a:p>
        </p:txBody>
      </p:sp>
      <p:sp>
        <p:nvSpPr>
          <p:cNvPr id="10" name="Rectangle 9"/>
          <p:cNvSpPr/>
          <p:nvPr/>
        </p:nvSpPr>
        <p:spPr>
          <a:xfrm>
            <a:off x="566928" y="1463040"/>
            <a:ext cx="1051560" cy="3810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618488" y="1463040"/>
            <a:ext cx="10006279" cy="3810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ixNote"/>
          <p:cNvSpPr txBox="1"/>
          <p:nvPr/>
        </p:nvSpPr>
        <p:spPr>
          <a:xfrm>
            <a:off x="566928" y="5760720"/>
            <a:ext cx="3840480" cy="274320"/>
          </a:xfrm>
          <a:prstGeom prst="rect">
            <a:avLst/>
          </a:prstGeom>
          <a:noFill/>
        </p:spPr>
        <p:txBody>
          <a:bodyPr wrap="square" lIns="0" rIns="0" tIns="0" bIns="0" anchor="t">
            <a:spAutoFit/>
          </a:bodyPr>
          <a:lstStyle/>
          <a:p>
            <a:pPr algn="l"/>
            <a:r>
              <a:rPr sz="1000" b="0" i="1">
                <a:solidFill>
                  <a:srgbClr val="595959"/>
                </a:solidFill>
                <a:latin typeface="Calibri"/>
              </a:rPr>
              <a:t>Appendix FY mix 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66928" y="658368"/>
            <a:ext cx="11057839" cy="749808"/>
          </a:xfrm>
        </p:spPr>
        <p:txBody>
          <a:bodyPr wrap="square" lIns="0" bIns="0" tIns="0" anchor="b"/>
          <a:lstStyle/>
          <a:p>
            <a:pPr algn="l"/>
            <a:r>
              <a:rPr sz="2600" b="0">
                <a:solidFill>
                  <a:srgbClr val="1F4E79"/>
                </a:solidFill>
                <a:latin typeface="Calibri Light"/>
              </a:rPr>
              <a:t>Appendix E — cohort retention, FY2024 cohorts</a:t>
            </a:r>
          </a:p>
        </p:txBody>
      </p:sp>
      <p:sp>
        <p:nvSpPr>
          <p:cNvPr id="3" name="Body"/>
          <p:cNvSpPr>
            <a:spLocks noGrp="1"/>
          </p:cNvSpPr>
          <p:nvPr>
            <p:ph idx="1"/>
          </p:nvPr>
        </p:nvSpPr>
        <p:spPr>
          <a:xfrm>
            <a:off x="566928" y="1783080"/>
            <a:ext cx="11057839" cy="3657600"/>
          </a:xfrm>
        </p:spPr>
        <p:txBody>
          <a:bodyPr wrap="square" lIns="0" tIns="0"/>
          <a:lstStyle/>
          <a:p>
            <a:pPr>
              <a:spcAft>
                <a:spcPts val="900"/>
              </a:spcAft>
            </a:pPr>
            <a:r>
              <a:rPr sz="1350">
                <a:solidFill>
                  <a:srgbClr val="262626"/>
                </a:solidFill>
                <a:latin typeface="Calibri"/>
              </a:rPr>
              <a:t>The FY2024 H1 cohort retained 91% of logos through 24 months.</a:t>
            </a:r>
          </a:p>
          <a:p>
            <a:pPr>
              <a:spcAft>
                <a:spcPts val="900"/>
              </a:spcAft>
            </a:pPr>
            <a:r>
              <a:rPr sz="1350">
                <a:solidFill>
                  <a:srgbClr val="262626"/>
                </a:solidFill>
                <a:latin typeface="Calibri"/>
              </a:rPr>
              <a:t>Dollar retention for the same cohort is 118% on a trailing basis.</a:t>
            </a:r>
          </a:p>
        </p:txBody>
      </p:sp>
      <p:sp>
        <p:nvSpPr>
          <p:cNvPr id="4" name="Rectangle 3"/>
          <p:cNvSpPr/>
          <p:nvPr/>
        </p:nvSpPr>
        <p:spPr>
          <a:xfrm>
            <a:off x="0" y="0"/>
            <a:ext cx="12191695"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0" bIns="0"/>
          <a:lstStyle/>
          <a:p>
            <a:r>
              <a:rPr sz="900" b="1">
                <a:solidFill>
                  <a:srgbClr val="FFFFFF"/>
                </a:solidFill>
                <a:latin typeface="Calibri"/>
              </a:rPr>
              <a:t>NORTHSTAR ANALYTICS   |   FY2026 Q3 BOARD PACK</a:t>
            </a:r>
          </a:p>
        </p:txBody>
      </p:sp>
      <p:sp>
        <p:nvSpPr>
          <p:cNvPr id="5" name="TextBox 4"/>
          <p:cNvSpPr txBox="1"/>
          <p:nvPr/>
        </p:nvSpPr>
        <p:spPr>
          <a:xfrm>
            <a:off x="9997135" y="82296"/>
            <a:ext cx="1627632" cy="219456"/>
          </a:xfrm>
          <a:prstGeom prst="rect">
            <a:avLst/>
          </a:prstGeom>
          <a:noFill/>
        </p:spPr>
        <p:txBody>
          <a:bodyPr wrap="square" lIns="0" rIns="0" tIns="0" bIns="0" anchor="t">
            <a:spAutoFit/>
          </a:bodyPr>
          <a:lstStyle/>
          <a:p>
            <a:pPr algn="r"/>
            <a:r>
              <a:rPr sz="900" b="1" i="0">
                <a:solidFill>
                  <a:srgbClr val="FFF2CC"/>
                </a:solidFill>
                <a:latin typeface="Calibri"/>
              </a:rPr>
              <a:t>CONFIDENTIAL</a:t>
            </a:r>
          </a:p>
        </p:txBody>
      </p:sp>
      <p:sp>
        <p:nvSpPr>
          <p:cNvPr id="6" name="Rectangle 5"/>
          <p:cNvSpPr/>
          <p:nvPr/>
        </p:nvSpPr>
        <p:spPr>
          <a:xfrm>
            <a:off x="566928" y="6272784"/>
            <a:ext cx="11057839"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6382512"/>
            <a:ext cx="7863840" cy="237744"/>
          </a:xfrm>
          <a:prstGeom prst="rect">
            <a:avLst/>
          </a:prstGeom>
          <a:noFill/>
        </p:spPr>
        <p:txBody>
          <a:bodyPr wrap="square" lIns="0" rIns="0" tIns="0" bIns="0" anchor="t">
            <a:spAutoFit/>
          </a:bodyPr>
          <a:lstStyle/>
          <a:p>
            <a:pPr algn="l"/>
            <a:r>
              <a:rPr sz="850" b="0" i="0">
                <a:solidFill>
                  <a:srgbClr val="595959"/>
                </a:solidFill>
                <a:latin typeface="Calibri"/>
              </a:rPr>
              <a:t>Northstar Analytics · prepared by Priya Shah, VP Finance · 17 August 2026</a:t>
            </a:r>
          </a:p>
        </p:txBody>
      </p:sp>
      <p:sp>
        <p:nvSpPr>
          <p:cNvPr id="8" name="TextBox 7"/>
          <p:cNvSpPr txBox="1"/>
          <p:nvPr/>
        </p:nvSpPr>
        <p:spPr>
          <a:xfrm>
            <a:off x="10527487" y="6382512"/>
            <a:ext cx="1097280" cy="237744"/>
          </a:xfrm>
          <a:prstGeom prst="rect">
            <a:avLst/>
          </a:prstGeom>
          <a:noFill/>
        </p:spPr>
        <p:txBody>
          <a:bodyPr wrap="square" lIns="0" rIns="0" tIns="0" bIns="0" anchor="t">
            <a:spAutoFit/>
          </a:bodyPr>
          <a:lstStyle/>
          <a:p>
            <a:pPr algn="r"/>
            <a:r>
              <a:rPr sz="850" b="0" i="0">
                <a:solidFill>
                  <a:srgbClr val="595959"/>
                </a:solidFill>
                <a:latin typeface="Calibri"/>
              </a:rPr>
              <a:t>14</a:t>
            </a:r>
          </a:p>
        </p:txBody>
      </p:sp>
      <p:sp>
        <p:nvSpPr>
          <p:cNvPr id="9" name="TextBox 8"/>
          <p:cNvSpPr txBox="1"/>
          <p:nvPr/>
        </p:nvSpPr>
        <p:spPr>
          <a:xfrm>
            <a:off x="566928" y="429768"/>
            <a:ext cx="11057839" cy="182880"/>
          </a:xfrm>
          <a:prstGeom prst="rect">
            <a:avLst/>
          </a:prstGeom>
          <a:noFill/>
        </p:spPr>
        <p:txBody>
          <a:bodyPr wrap="square" lIns="0" rIns="0" tIns="0" bIns="0" anchor="t">
            <a:spAutoFit/>
          </a:bodyPr>
          <a:lstStyle/>
          <a:p>
            <a:pPr algn="l"/>
            <a:r>
              <a:rPr sz="900" b="1" i="0">
                <a:solidFill>
                  <a:srgbClr val="BF8F00"/>
                </a:solidFill>
                <a:latin typeface="Calibri"/>
              </a:rPr>
              <a:t>APPENDIX — HISTORICAL, DO NOT RESTATE</a:t>
            </a:r>
          </a:p>
        </p:txBody>
      </p:sp>
      <p:sp>
        <p:nvSpPr>
          <p:cNvPr id="10" name="Rectangle 9"/>
          <p:cNvSpPr/>
          <p:nvPr/>
        </p:nvSpPr>
        <p:spPr>
          <a:xfrm>
            <a:off x="566928" y="1463040"/>
            <a:ext cx="1051560" cy="3810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618488" y="1463040"/>
            <a:ext cx="10006279" cy="3810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ixNote"/>
          <p:cNvSpPr txBox="1"/>
          <p:nvPr/>
        </p:nvSpPr>
        <p:spPr>
          <a:xfrm>
            <a:off x="566928" y="5760720"/>
            <a:ext cx="3840480" cy="274320"/>
          </a:xfrm>
          <a:prstGeom prst="rect">
            <a:avLst/>
          </a:prstGeom>
          <a:noFill/>
        </p:spPr>
        <p:txBody>
          <a:bodyPr wrap="square" lIns="0" rIns="0" tIns="0" bIns="0" anchor="t">
            <a:spAutoFit/>
          </a:bodyPr>
          <a:lstStyle/>
          <a:p>
            <a:pPr algn="l"/>
            <a:r>
              <a:rPr sz="1000" b="0" i="1">
                <a:solidFill>
                  <a:srgbClr val="595959"/>
                </a:solidFill>
                <a:latin typeface="Calibri"/>
              </a:rPr>
              <a:t>Appendix FY mix 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66928" y="658368"/>
            <a:ext cx="11057839" cy="749808"/>
          </a:xfrm>
        </p:spPr>
        <p:txBody>
          <a:bodyPr wrap="square" lIns="0" bIns="0" tIns="0" anchor="b"/>
          <a:lstStyle/>
          <a:p>
            <a:pPr algn="l"/>
            <a:r>
              <a:rPr sz="2600" b="0">
                <a:solidFill>
                  <a:srgbClr val="1F4E79"/>
                </a:solidFill>
                <a:latin typeface="Calibri Light"/>
              </a:rPr>
              <a:t>Appendix F — quota and coverage history</a:t>
            </a:r>
          </a:p>
        </p:txBody>
      </p:sp>
      <p:sp>
        <p:nvSpPr>
          <p:cNvPr id="3" name="Body"/>
          <p:cNvSpPr>
            <a:spLocks noGrp="1"/>
          </p:cNvSpPr>
          <p:nvPr>
            <p:ph idx="1"/>
          </p:nvPr>
        </p:nvSpPr>
        <p:spPr>
          <a:xfrm>
            <a:off x="566928" y="1783080"/>
            <a:ext cx="11057839" cy="3657600"/>
          </a:xfrm>
        </p:spPr>
        <p:txBody>
          <a:bodyPr wrap="square" lIns="0" tIns="0"/>
          <a:lstStyle/>
          <a:p>
            <a:pPr>
              <a:spcAft>
                <a:spcPts val="900"/>
              </a:spcAft>
            </a:pPr>
            <a:r>
              <a:rPr sz="1350">
                <a:solidFill>
                  <a:srgbClr val="262626"/>
                </a:solidFill>
                <a:latin typeface="Calibri"/>
              </a:rPr>
              <a:t>FY2024 quota per ramped AE was $640k against $780k in FY2026.</a:t>
            </a:r>
          </a:p>
          <a:p>
            <a:pPr>
              <a:spcAft>
                <a:spcPts val="900"/>
              </a:spcAft>
            </a:pPr>
            <a:r>
              <a:rPr sz="1350">
                <a:solidFill>
                  <a:srgbClr val="262626"/>
                </a:solidFill>
                <a:latin typeface="Calibri"/>
              </a:rPr>
              <a:t>Coverage ratios below 2.6x in FY2024 correlate with missed quarters.</a:t>
            </a:r>
          </a:p>
        </p:txBody>
      </p:sp>
      <p:sp>
        <p:nvSpPr>
          <p:cNvPr id="4" name="Rectangle 3"/>
          <p:cNvSpPr/>
          <p:nvPr/>
        </p:nvSpPr>
        <p:spPr>
          <a:xfrm>
            <a:off x="0" y="0"/>
            <a:ext cx="12191695"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0" bIns="0"/>
          <a:lstStyle/>
          <a:p>
            <a:r>
              <a:rPr sz="900" b="1">
                <a:solidFill>
                  <a:srgbClr val="FFFFFF"/>
                </a:solidFill>
                <a:latin typeface="Calibri"/>
              </a:rPr>
              <a:t>NORTHSTAR ANALYTICS   |   FY2026 Q3 BOARD PACK</a:t>
            </a:r>
          </a:p>
        </p:txBody>
      </p:sp>
      <p:sp>
        <p:nvSpPr>
          <p:cNvPr id="5" name="TextBox 4"/>
          <p:cNvSpPr txBox="1"/>
          <p:nvPr/>
        </p:nvSpPr>
        <p:spPr>
          <a:xfrm>
            <a:off x="9997135" y="82296"/>
            <a:ext cx="1627632" cy="219456"/>
          </a:xfrm>
          <a:prstGeom prst="rect">
            <a:avLst/>
          </a:prstGeom>
          <a:noFill/>
        </p:spPr>
        <p:txBody>
          <a:bodyPr wrap="square" lIns="0" rIns="0" tIns="0" bIns="0" anchor="t">
            <a:spAutoFit/>
          </a:bodyPr>
          <a:lstStyle/>
          <a:p>
            <a:pPr algn="r"/>
            <a:r>
              <a:rPr sz="900" b="1" i="0">
                <a:solidFill>
                  <a:srgbClr val="FFF2CC"/>
                </a:solidFill>
                <a:latin typeface="Calibri"/>
              </a:rPr>
              <a:t>CONFIDENTIAL</a:t>
            </a:r>
          </a:p>
        </p:txBody>
      </p:sp>
      <p:sp>
        <p:nvSpPr>
          <p:cNvPr id="6" name="Rectangle 5"/>
          <p:cNvSpPr/>
          <p:nvPr/>
        </p:nvSpPr>
        <p:spPr>
          <a:xfrm>
            <a:off x="566928" y="6272784"/>
            <a:ext cx="11057839"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6382512"/>
            <a:ext cx="7863840" cy="237744"/>
          </a:xfrm>
          <a:prstGeom prst="rect">
            <a:avLst/>
          </a:prstGeom>
          <a:noFill/>
        </p:spPr>
        <p:txBody>
          <a:bodyPr wrap="square" lIns="0" rIns="0" tIns="0" bIns="0" anchor="t">
            <a:spAutoFit/>
          </a:bodyPr>
          <a:lstStyle/>
          <a:p>
            <a:pPr algn="l"/>
            <a:r>
              <a:rPr sz="850" b="0" i="0">
                <a:solidFill>
                  <a:srgbClr val="595959"/>
                </a:solidFill>
                <a:latin typeface="Calibri"/>
              </a:rPr>
              <a:t>Northstar Analytics · prepared by Priya Shah, VP Finance · 17 August 2026</a:t>
            </a:r>
          </a:p>
        </p:txBody>
      </p:sp>
      <p:sp>
        <p:nvSpPr>
          <p:cNvPr id="8" name="TextBox 7"/>
          <p:cNvSpPr txBox="1"/>
          <p:nvPr/>
        </p:nvSpPr>
        <p:spPr>
          <a:xfrm>
            <a:off x="10527487" y="6382512"/>
            <a:ext cx="1097280" cy="237744"/>
          </a:xfrm>
          <a:prstGeom prst="rect">
            <a:avLst/>
          </a:prstGeom>
          <a:noFill/>
        </p:spPr>
        <p:txBody>
          <a:bodyPr wrap="square" lIns="0" rIns="0" tIns="0" bIns="0" anchor="t">
            <a:spAutoFit/>
          </a:bodyPr>
          <a:lstStyle/>
          <a:p>
            <a:pPr algn="r"/>
            <a:r>
              <a:rPr sz="850" b="0" i="0">
                <a:solidFill>
                  <a:srgbClr val="595959"/>
                </a:solidFill>
                <a:latin typeface="Calibri"/>
              </a:rPr>
              <a:t>15</a:t>
            </a:r>
          </a:p>
        </p:txBody>
      </p:sp>
      <p:sp>
        <p:nvSpPr>
          <p:cNvPr id="9" name="TextBox 8"/>
          <p:cNvSpPr txBox="1"/>
          <p:nvPr/>
        </p:nvSpPr>
        <p:spPr>
          <a:xfrm>
            <a:off x="566928" y="429768"/>
            <a:ext cx="11057839" cy="182880"/>
          </a:xfrm>
          <a:prstGeom prst="rect">
            <a:avLst/>
          </a:prstGeom>
          <a:noFill/>
        </p:spPr>
        <p:txBody>
          <a:bodyPr wrap="square" lIns="0" rIns="0" tIns="0" bIns="0" anchor="t">
            <a:spAutoFit/>
          </a:bodyPr>
          <a:lstStyle/>
          <a:p>
            <a:pPr algn="l"/>
            <a:r>
              <a:rPr sz="900" b="1" i="0">
                <a:solidFill>
                  <a:srgbClr val="BF8F00"/>
                </a:solidFill>
                <a:latin typeface="Calibri"/>
              </a:rPr>
              <a:t>APPENDIX — HISTORICAL, DO NOT RESTATE</a:t>
            </a:r>
          </a:p>
        </p:txBody>
      </p:sp>
      <p:sp>
        <p:nvSpPr>
          <p:cNvPr id="10" name="Rectangle 9"/>
          <p:cNvSpPr/>
          <p:nvPr/>
        </p:nvSpPr>
        <p:spPr>
          <a:xfrm>
            <a:off x="566928" y="1463040"/>
            <a:ext cx="1051560" cy="3810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618488" y="1463040"/>
            <a:ext cx="10006279" cy="3810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ixNote"/>
          <p:cNvSpPr txBox="1"/>
          <p:nvPr/>
        </p:nvSpPr>
        <p:spPr>
          <a:xfrm>
            <a:off x="566928" y="5760720"/>
            <a:ext cx="3840480" cy="274320"/>
          </a:xfrm>
          <a:prstGeom prst="rect">
            <a:avLst/>
          </a:prstGeom>
          <a:noFill/>
        </p:spPr>
        <p:txBody>
          <a:bodyPr wrap="square" lIns="0" rIns="0" tIns="0" bIns="0" anchor="t">
            <a:spAutoFit/>
          </a:bodyPr>
          <a:lstStyle/>
          <a:p>
            <a:pPr algn="l"/>
            <a:r>
              <a:rPr sz="1000" b="0" i="1">
                <a:solidFill>
                  <a:srgbClr val="595959"/>
                </a:solidFill>
                <a:latin typeface="Calibri"/>
              </a:rPr>
              <a:t>Appendix FY mix 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66928" y="658368"/>
            <a:ext cx="11057839" cy="749808"/>
          </a:xfrm>
        </p:spPr>
        <p:txBody>
          <a:bodyPr wrap="square" lIns="0" bIns="0" tIns="0" anchor="b"/>
          <a:lstStyle/>
          <a:p>
            <a:pPr algn="l"/>
            <a:r>
              <a:rPr sz="2600" b="0">
                <a:solidFill>
                  <a:srgbClr val="1F4E79"/>
                </a:solidFill>
                <a:latin typeface="Calibri Light"/>
              </a:rPr>
              <a:t>Appendix G — pricing changes since FY2024</a:t>
            </a:r>
          </a:p>
        </p:txBody>
      </p:sp>
      <p:sp>
        <p:nvSpPr>
          <p:cNvPr id="3" name="Body"/>
          <p:cNvSpPr>
            <a:spLocks noGrp="1"/>
          </p:cNvSpPr>
          <p:nvPr>
            <p:ph idx="1"/>
          </p:nvPr>
        </p:nvSpPr>
        <p:spPr>
          <a:xfrm>
            <a:off x="566928" y="1783080"/>
            <a:ext cx="11057839" cy="3657600"/>
          </a:xfrm>
        </p:spPr>
        <p:txBody>
          <a:bodyPr wrap="square" lIns="0" tIns="0"/>
          <a:lstStyle/>
          <a:p>
            <a:pPr>
              <a:spcAft>
                <a:spcPts val="900"/>
              </a:spcAft>
            </a:pPr>
            <a:r>
              <a:rPr sz="1350">
                <a:solidFill>
                  <a:srgbClr val="262626"/>
                </a:solidFill>
                <a:latin typeface="Calibri"/>
              </a:rPr>
              <a:t>List price rose twice since FY2024; grandfathered accounts are 8% of ARR.</a:t>
            </a:r>
          </a:p>
          <a:p>
            <a:pPr>
              <a:spcAft>
                <a:spcPts val="900"/>
              </a:spcAft>
            </a:pPr>
            <a:r>
              <a:rPr sz="1350">
                <a:solidFill>
                  <a:srgbClr val="262626"/>
                </a:solidFill>
                <a:latin typeface="Calibri"/>
              </a:rPr>
              <a:t>Discount governance moved to a committee in Q2 FY2025.</a:t>
            </a:r>
          </a:p>
        </p:txBody>
      </p:sp>
      <p:sp>
        <p:nvSpPr>
          <p:cNvPr id="4" name="Rectangle 3"/>
          <p:cNvSpPr/>
          <p:nvPr/>
        </p:nvSpPr>
        <p:spPr>
          <a:xfrm>
            <a:off x="0" y="0"/>
            <a:ext cx="12191695"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0" bIns="0"/>
          <a:lstStyle/>
          <a:p>
            <a:r>
              <a:rPr sz="900" b="1">
                <a:solidFill>
                  <a:srgbClr val="FFFFFF"/>
                </a:solidFill>
                <a:latin typeface="Calibri"/>
              </a:rPr>
              <a:t>NORTHSTAR ANALYTICS   |   FY2026 Q3 BOARD PACK</a:t>
            </a:r>
          </a:p>
        </p:txBody>
      </p:sp>
      <p:sp>
        <p:nvSpPr>
          <p:cNvPr id="5" name="TextBox 4"/>
          <p:cNvSpPr txBox="1"/>
          <p:nvPr/>
        </p:nvSpPr>
        <p:spPr>
          <a:xfrm>
            <a:off x="9997135" y="82296"/>
            <a:ext cx="1627632" cy="219456"/>
          </a:xfrm>
          <a:prstGeom prst="rect">
            <a:avLst/>
          </a:prstGeom>
          <a:noFill/>
        </p:spPr>
        <p:txBody>
          <a:bodyPr wrap="square" lIns="0" rIns="0" tIns="0" bIns="0" anchor="t">
            <a:spAutoFit/>
          </a:bodyPr>
          <a:lstStyle/>
          <a:p>
            <a:pPr algn="r"/>
            <a:r>
              <a:rPr sz="900" b="1" i="0">
                <a:solidFill>
                  <a:srgbClr val="FFF2CC"/>
                </a:solidFill>
                <a:latin typeface="Calibri"/>
              </a:rPr>
              <a:t>CONFIDENTIAL</a:t>
            </a:r>
          </a:p>
        </p:txBody>
      </p:sp>
      <p:sp>
        <p:nvSpPr>
          <p:cNvPr id="6" name="Rectangle 5"/>
          <p:cNvSpPr/>
          <p:nvPr/>
        </p:nvSpPr>
        <p:spPr>
          <a:xfrm>
            <a:off x="566928" y="6272784"/>
            <a:ext cx="11057839"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6382512"/>
            <a:ext cx="7863840" cy="237744"/>
          </a:xfrm>
          <a:prstGeom prst="rect">
            <a:avLst/>
          </a:prstGeom>
          <a:noFill/>
        </p:spPr>
        <p:txBody>
          <a:bodyPr wrap="square" lIns="0" rIns="0" tIns="0" bIns="0" anchor="t">
            <a:spAutoFit/>
          </a:bodyPr>
          <a:lstStyle/>
          <a:p>
            <a:pPr algn="l"/>
            <a:r>
              <a:rPr sz="850" b="0" i="0">
                <a:solidFill>
                  <a:srgbClr val="595959"/>
                </a:solidFill>
                <a:latin typeface="Calibri"/>
              </a:rPr>
              <a:t>Northstar Analytics · prepared by Priya Shah, VP Finance · 17 August 2026</a:t>
            </a:r>
          </a:p>
        </p:txBody>
      </p:sp>
      <p:sp>
        <p:nvSpPr>
          <p:cNvPr id="8" name="TextBox 7"/>
          <p:cNvSpPr txBox="1"/>
          <p:nvPr/>
        </p:nvSpPr>
        <p:spPr>
          <a:xfrm>
            <a:off x="10527487" y="6382512"/>
            <a:ext cx="1097280" cy="237744"/>
          </a:xfrm>
          <a:prstGeom prst="rect">
            <a:avLst/>
          </a:prstGeom>
          <a:noFill/>
        </p:spPr>
        <p:txBody>
          <a:bodyPr wrap="square" lIns="0" rIns="0" tIns="0" bIns="0" anchor="t">
            <a:spAutoFit/>
          </a:bodyPr>
          <a:lstStyle/>
          <a:p>
            <a:pPr algn="r"/>
            <a:r>
              <a:rPr sz="850" b="0" i="0">
                <a:solidFill>
                  <a:srgbClr val="595959"/>
                </a:solidFill>
                <a:latin typeface="Calibri"/>
              </a:rPr>
              <a:t>16</a:t>
            </a:r>
          </a:p>
        </p:txBody>
      </p:sp>
      <p:sp>
        <p:nvSpPr>
          <p:cNvPr id="9" name="TextBox 8"/>
          <p:cNvSpPr txBox="1"/>
          <p:nvPr/>
        </p:nvSpPr>
        <p:spPr>
          <a:xfrm>
            <a:off x="566928" y="429768"/>
            <a:ext cx="11057839" cy="182880"/>
          </a:xfrm>
          <a:prstGeom prst="rect">
            <a:avLst/>
          </a:prstGeom>
          <a:noFill/>
        </p:spPr>
        <p:txBody>
          <a:bodyPr wrap="square" lIns="0" rIns="0" tIns="0" bIns="0" anchor="t">
            <a:spAutoFit/>
          </a:bodyPr>
          <a:lstStyle/>
          <a:p>
            <a:pPr algn="l"/>
            <a:r>
              <a:rPr sz="900" b="1" i="0">
                <a:solidFill>
                  <a:srgbClr val="BF8F00"/>
                </a:solidFill>
                <a:latin typeface="Calibri"/>
              </a:rPr>
              <a:t>APPENDIX — HISTORICAL, DO NOT RESTATE</a:t>
            </a:r>
          </a:p>
        </p:txBody>
      </p:sp>
      <p:sp>
        <p:nvSpPr>
          <p:cNvPr id="10" name="Rectangle 9"/>
          <p:cNvSpPr/>
          <p:nvPr/>
        </p:nvSpPr>
        <p:spPr>
          <a:xfrm>
            <a:off x="566928" y="1463040"/>
            <a:ext cx="1051560" cy="3810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618488" y="1463040"/>
            <a:ext cx="10006279" cy="3810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ixNote"/>
          <p:cNvSpPr txBox="1"/>
          <p:nvPr/>
        </p:nvSpPr>
        <p:spPr>
          <a:xfrm>
            <a:off x="566928" y="5760720"/>
            <a:ext cx="3840480" cy="274320"/>
          </a:xfrm>
          <a:prstGeom prst="rect">
            <a:avLst/>
          </a:prstGeom>
          <a:noFill/>
        </p:spPr>
        <p:txBody>
          <a:bodyPr wrap="square" lIns="0" rIns="0" tIns="0" bIns="0" anchor="t">
            <a:spAutoFit/>
          </a:bodyPr>
          <a:lstStyle/>
          <a:p>
            <a:pPr algn="l"/>
            <a:r>
              <a:rPr sz="1000" b="0" i="1">
                <a:solidFill>
                  <a:srgbClr val="595959"/>
                </a:solidFill>
                <a:latin typeface="Calibri"/>
              </a:rPr>
              <a:t>Appendix FY mix 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66928" y="658368"/>
            <a:ext cx="11057839" cy="749808"/>
          </a:xfrm>
        </p:spPr>
        <p:txBody>
          <a:bodyPr wrap="square" lIns="0" bIns="0" tIns="0" anchor="b"/>
          <a:lstStyle/>
          <a:p>
            <a:pPr algn="l"/>
            <a:r>
              <a:rPr sz="2600" b="0">
                <a:solidFill>
                  <a:srgbClr val="1F4E79"/>
                </a:solidFill>
                <a:latin typeface="Calibri Light"/>
              </a:rPr>
              <a:t>Appendix H — data sources and definitions</a:t>
            </a:r>
          </a:p>
        </p:txBody>
      </p:sp>
      <p:sp>
        <p:nvSpPr>
          <p:cNvPr id="3" name="Body"/>
          <p:cNvSpPr>
            <a:spLocks noGrp="1"/>
          </p:cNvSpPr>
          <p:nvPr>
            <p:ph idx="1"/>
          </p:nvPr>
        </p:nvSpPr>
        <p:spPr>
          <a:xfrm>
            <a:off x="566928" y="1783080"/>
            <a:ext cx="11057839" cy="3657600"/>
          </a:xfrm>
        </p:spPr>
        <p:txBody>
          <a:bodyPr wrap="square" lIns="0" tIns="0"/>
          <a:lstStyle/>
          <a:p>
            <a:pPr>
              <a:spcAft>
                <a:spcPts val="900"/>
              </a:spcAft>
            </a:pPr>
            <a:r>
              <a:rPr sz="1350">
                <a:solidFill>
                  <a:srgbClr val="262626"/>
                </a:solidFill>
                <a:latin typeface="Calibri"/>
              </a:rPr>
              <a:t>ARR, NRR and bookings are sourced from the Q3 workbook tabs in this pack.</a:t>
            </a:r>
          </a:p>
          <a:p>
            <a:pPr>
              <a:spcAft>
                <a:spcPts val="900"/>
              </a:spcAft>
            </a:pPr>
            <a:r>
              <a:rPr sz="1350">
                <a:solidFill>
                  <a:srgbClr val="262626"/>
                </a:solidFill>
                <a:latin typeface="Calibri"/>
              </a:rPr>
              <a:t>FY2024 monthly tabs are frozen extracts and are excluded from live reporting.</a:t>
            </a:r>
          </a:p>
          <a:p>
            <a:pPr>
              <a:spcAft>
                <a:spcPts val="900"/>
              </a:spcAft>
            </a:pPr>
            <a:r>
              <a:rPr sz="1350">
                <a:solidFill>
                  <a:srgbClr val="262626"/>
                </a:solidFill>
                <a:latin typeface="Calibri"/>
              </a:rPr>
              <a:t>Commission figures in the body of this deck read the workbook named range Rate.</a:t>
            </a:r>
          </a:p>
        </p:txBody>
      </p:sp>
      <p:sp>
        <p:nvSpPr>
          <p:cNvPr id="4" name="Rectangle 3"/>
          <p:cNvSpPr/>
          <p:nvPr/>
        </p:nvSpPr>
        <p:spPr>
          <a:xfrm>
            <a:off x="0" y="0"/>
            <a:ext cx="12191695"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0" bIns="0"/>
          <a:lstStyle/>
          <a:p>
            <a:r>
              <a:rPr sz="900" b="1">
                <a:solidFill>
                  <a:srgbClr val="FFFFFF"/>
                </a:solidFill>
                <a:latin typeface="Calibri"/>
              </a:rPr>
              <a:t>NORTHSTAR ANALYTICS   |   FY2026 Q3 BOARD PACK</a:t>
            </a:r>
          </a:p>
        </p:txBody>
      </p:sp>
      <p:sp>
        <p:nvSpPr>
          <p:cNvPr id="5" name="TextBox 4"/>
          <p:cNvSpPr txBox="1"/>
          <p:nvPr/>
        </p:nvSpPr>
        <p:spPr>
          <a:xfrm>
            <a:off x="9997135" y="82296"/>
            <a:ext cx="1627632" cy="219456"/>
          </a:xfrm>
          <a:prstGeom prst="rect">
            <a:avLst/>
          </a:prstGeom>
          <a:noFill/>
        </p:spPr>
        <p:txBody>
          <a:bodyPr wrap="square" lIns="0" rIns="0" tIns="0" bIns="0" anchor="t">
            <a:spAutoFit/>
          </a:bodyPr>
          <a:lstStyle/>
          <a:p>
            <a:pPr algn="r"/>
            <a:r>
              <a:rPr sz="900" b="1" i="0">
                <a:solidFill>
                  <a:srgbClr val="FFF2CC"/>
                </a:solidFill>
                <a:latin typeface="Calibri"/>
              </a:rPr>
              <a:t>CONFIDENTIAL</a:t>
            </a:r>
          </a:p>
        </p:txBody>
      </p:sp>
      <p:sp>
        <p:nvSpPr>
          <p:cNvPr id="6" name="Rectangle 5"/>
          <p:cNvSpPr/>
          <p:nvPr/>
        </p:nvSpPr>
        <p:spPr>
          <a:xfrm>
            <a:off x="566928" y="6272784"/>
            <a:ext cx="11057839"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6382512"/>
            <a:ext cx="7863840" cy="237744"/>
          </a:xfrm>
          <a:prstGeom prst="rect">
            <a:avLst/>
          </a:prstGeom>
          <a:noFill/>
        </p:spPr>
        <p:txBody>
          <a:bodyPr wrap="square" lIns="0" rIns="0" tIns="0" bIns="0" anchor="t">
            <a:spAutoFit/>
          </a:bodyPr>
          <a:lstStyle/>
          <a:p>
            <a:pPr algn="l"/>
            <a:r>
              <a:rPr sz="850" b="0" i="0">
                <a:solidFill>
                  <a:srgbClr val="595959"/>
                </a:solidFill>
                <a:latin typeface="Calibri"/>
              </a:rPr>
              <a:t>Northstar Analytics · prepared by Priya Shah, VP Finance · 17 August 2026</a:t>
            </a:r>
          </a:p>
        </p:txBody>
      </p:sp>
      <p:sp>
        <p:nvSpPr>
          <p:cNvPr id="8" name="TextBox 7"/>
          <p:cNvSpPr txBox="1"/>
          <p:nvPr/>
        </p:nvSpPr>
        <p:spPr>
          <a:xfrm>
            <a:off x="10527487" y="6382512"/>
            <a:ext cx="1097280" cy="237744"/>
          </a:xfrm>
          <a:prstGeom prst="rect">
            <a:avLst/>
          </a:prstGeom>
          <a:noFill/>
        </p:spPr>
        <p:txBody>
          <a:bodyPr wrap="square" lIns="0" rIns="0" tIns="0" bIns="0" anchor="t">
            <a:spAutoFit/>
          </a:bodyPr>
          <a:lstStyle/>
          <a:p>
            <a:pPr algn="r"/>
            <a:r>
              <a:rPr sz="850" b="0" i="0">
                <a:solidFill>
                  <a:srgbClr val="595959"/>
                </a:solidFill>
                <a:latin typeface="Calibri"/>
              </a:rPr>
              <a:t>17</a:t>
            </a:r>
          </a:p>
        </p:txBody>
      </p:sp>
      <p:sp>
        <p:nvSpPr>
          <p:cNvPr id="9" name="TextBox 8"/>
          <p:cNvSpPr txBox="1"/>
          <p:nvPr/>
        </p:nvSpPr>
        <p:spPr>
          <a:xfrm>
            <a:off x="566928" y="429768"/>
            <a:ext cx="11057839" cy="182880"/>
          </a:xfrm>
          <a:prstGeom prst="rect">
            <a:avLst/>
          </a:prstGeom>
          <a:noFill/>
        </p:spPr>
        <p:txBody>
          <a:bodyPr wrap="square" lIns="0" rIns="0" tIns="0" bIns="0" anchor="t">
            <a:spAutoFit/>
          </a:bodyPr>
          <a:lstStyle/>
          <a:p>
            <a:pPr algn="l"/>
            <a:r>
              <a:rPr sz="900" b="1" i="0">
                <a:solidFill>
                  <a:srgbClr val="BF8F00"/>
                </a:solidFill>
                <a:latin typeface="Calibri"/>
              </a:rPr>
              <a:t>APPENDIX — HISTORICAL, DO NOT RESTATE</a:t>
            </a:r>
          </a:p>
        </p:txBody>
      </p:sp>
      <p:sp>
        <p:nvSpPr>
          <p:cNvPr id="10" name="Rectangle 9"/>
          <p:cNvSpPr/>
          <p:nvPr/>
        </p:nvSpPr>
        <p:spPr>
          <a:xfrm>
            <a:off x="566928" y="1463040"/>
            <a:ext cx="1051560" cy="3810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618488" y="1463040"/>
            <a:ext cx="10006279" cy="3810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ixNote"/>
          <p:cNvSpPr txBox="1"/>
          <p:nvPr/>
        </p:nvSpPr>
        <p:spPr>
          <a:xfrm>
            <a:off x="566928" y="5760720"/>
            <a:ext cx="3840480" cy="274320"/>
          </a:xfrm>
          <a:prstGeom prst="rect">
            <a:avLst/>
          </a:prstGeom>
          <a:noFill/>
        </p:spPr>
        <p:txBody>
          <a:bodyPr wrap="square" lIns="0" rIns="0" tIns="0" bIns="0" anchor="t">
            <a:spAutoFit/>
          </a:bodyPr>
          <a:lstStyle/>
          <a:p>
            <a:pPr algn="l"/>
            <a:r>
              <a:rPr sz="1000" b="0" i="1">
                <a:solidFill>
                  <a:srgbClr val="595959"/>
                </a:solidFill>
                <a:latin typeface="Calibri"/>
              </a:rPr>
              <a:t>Appendix FY mix 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66928" y="658368"/>
            <a:ext cx="11057839" cy="749808"/>
          </a:xfrm>
        </p:spPr>
        <p:txBody>
          <a:bodyPr wrap="square" lIns="0" bIns="0" tIns="0" anchor="b"/>
          <a:lstStyle/>
          <a:p>
            <a:pPr algn="l"/>
            <a:r>
              <a:rPr sz="2600" b="0">
                <a:solidFill>
                  <a:srgbClr val="1F4E79"/>
                </a:solidFill>
                <a:latin typeface="Calibri Light"/>
              </a:rPr>
              <a:t>Appendix I — glossary</a:t>
            </a:r>
          </a:p>
        </p:txBody>
      </p:sp>
      <p:sp>
        <p:nvSpPr>
          <p:cNvPr id="3" name="Body"/>
          <p:cNvSpPr>
            <a:spLocks noGrp="1"/>
          </p:cNvSpPr>
          <p:nvPr>
            <p:ph idx="1"/>
          </p:nvPr>
        </p:nvSpPr>
        <p:spPr>
          <a:xfrm>
            <a:off x="566928" y="1783080"/>
            <a:ext cx="11057839" cy="3657600"/>
          </a:xfrm>
        </p:spPr>
        <p:txBody>
          <a:bodyPr wrap="square" lIns="0" tIns="0"/>
          <a:lstStyle/>
          <a:p>
            <a:pPr>
              <a:spcAft>
                <a:spcPts val="900"/>
              </a:spcAft>
            </a:pPr>
            <a:r>
              <a:rPr sz="1350">
                <a:solidFill>
                  <a:srgbClr val="262626"/>
                </a:solidFill>
                <a:latin typeface="Calibri"/>
              </a:rPr>
              <a:t>NRR: expansion plus contraction plus churn, excluding new logos.</a:t>
            </a:r>
          </a:p>
          <a:p>
            <a:pPr>
              <a:spcAft>
                <a:spcPts val="900"/>
              </a:spcAft>
            </a:pPr>
            <a:r>
              <a:rPr sz="1350">
                <a:solidFill>
                  <a:srgbClr val="262626"/>
                </a:solidFill>
                <a:latin typeface="Calibri"/>
              </a:rPr>
              <a:t>Magic number: net new ARR divided by prior-quarter sales and marketing spend.</a:t>
            </a:r>
          </a:p>
          <a:p>
            <a:pPr>
              <a:spcAft>
                <a:spcPts val="900"/>
              </a:spcAft>
            </a:pPr>
            <a:r>
              <a:rPr sz="1350">
                <a:solidFill>
                  <a:srgbClr val="262626"/>
                </a:solidFill>
                <a:latin typeface="Calibri"/>
              </a:rPr>
              <a:t>Weighted pipeline: stage value multiplied by the stage probability.</a:t>
            </a:r>
          </a:p>
        </p:txBody>
      </p:sp>
      <p:sp>
        <p:nvSpPr>
          <p:cNvPr id="4" name="Rectangle 3"/>
          <p:cNvSpPr/>
          <p:nvPr/>
        </p:nvSpPr>
        <p:spPr>
          <a:xfrm>
            <a:off x="0" y="0"/>
            <a:ext cx="12191695"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0" bIns="0"/>
          <a:lstStyle/>
          <a:p>
            <a:r>
              <a:rPr sz="900" b="1">
                <a:solidFill>
                  <a:srgbClr val="FFFFFF"/>
                </a:solidFill>
                <a:latin typeface="Calibri"/>
              </a:rPr>
              <a:t>NORTHSTAR ANALYTICS   |   FY2026 Q3 BOARD PACK</a:t>
            </a:r>
          </a:p>
        </p:txBody>
      </p:sp>
      <p:sp>
        <p:nvSpPr>
          <p:cNvPr id="5" name="TextBox 4"/>
          <p:cNvSpPr txBox="1"/>
          <p:nvPr/>
        </p:nvSpPr>
        <p:spPr>
          <a:xfrm>
            <a:off x="9997135" y="82296"/>
            <a:ext cx="1627632" cy="219456"/>
          </a:xfrm>
          <a:prstGeom prst="rect">
            <a:avLst/>
          </a:prstGeom>
          <a:noFill/>
        </p:spPr>
        <p:txBody>
          <a:bodyPr wrap="square" lIns="0" rIns="0" tIns="0" bIns="0" anchor="t">
            <a:spAutoFit/>
          </a:bodyPr>
          <a:lstStyle/>
          <a:p>
            <a:pPr algn="r"/>
            <a:r>
              <a:rPr sz="900" b="1" i="0">
                <a:solidFill>
                  <a:srgbClr val="FFF2CC"/>
                </a:solidFill>
                <a:latin typeface="Calibri"/>
              </a:rPr>
              <a:t>CONFIDENTIAL</a:t>
            </a:r>
          </a:p>
        </p:txBody>
      </p:sp>
      <p:sp>
        <p:nvSpPr>
          <p:cNvPr id="6" name="Rectangle 5"/>
          <p:cNvSpPr/>
          <p:nvPr/>
        </p:nvSpPr>
        <p:spPr>
          <a:xfrm>
            <a:off x="566928" y="6272784"/>
            <a:ext cx="11057839"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6382512"/>
            <a:ext cx="7863840" cy="237744"/>
          </a:xfrm>
          <a:prstGeom prst="rect">
            <a:avLst/>
          </a:prstGeom>
          <a:noFill/>
        </p:spPr>
        <p:txBody>
          <a:bodyPr wrap="square" lIns="0" rIns="0" tIns="0" bIns="0" anchor="t">
            <a:spAutoFit/>
          </a:bodyPr>
          <a:lstStyle/>
          <a:p>
            <a:pPr algn="l"/>
            <a:r>
              <a:rPr sz="850" b="0" i="0">
                <a:solidFill>
                  <a:srgbClr val="595959"/>
                </a:solidFill>
                <a:latin typeface="Calibri"/>
              </a:rPr>
              <a:t>Northstar Analytics · prepared by Priya Shah, VP Finance · 17 August 2026</a:t>
            </a:r>
          </a:p>
        </p:txBody>
      </p:sp>
      <p:sp>
        <p:nvSpPr>
          <p:cNvPr id="8" name="TextBox 7"/>
          <p:cNvSpPr txBox="1"/>
          <p:nvPr/>
        </p:nvSpPr>
        <p:spPr>
          <a:xfrm>
            <a:off x="10527487" y="6382512"/>
            <a:ext cx="1097280" cy="237744"/>
          </a:xfrm>
          <a:prstGeom prst="rect">
            <a:avLst/>
          </a:prstGeom>
          <a:noFill/>
        </p:spPr>
        <p:txBody>
          <a:bodyPr wrap="square" lIns="0" rIns="0" tIns="0" bIns="0" anchor="t">
            <a:spAutoFit/>
          </a:bodyPr>
          <a:lstStyle/>
          <a:p>
            <a:pPr algn="r"/>
            <a:r>
              <a:rPr sz="850" b="0" i="0">
                <a:solidFill>
                  <a:srgbClr val="595959"/>
                </a:solidFill>
                <a:latin typeface="Calibri"/>
              </a:rPr>
              <a:t>18</a:t>
            </a:r>
          </a:p>
        </p:txBody>
      </p:sp>
      <p:sp>
        <p:nvSpPr>
          <p:cNvPr id="9" name="TextBox 8"/>
          <p:cNvSpPr txBox="1"/>
          <p:nvPr/>
        </p:nvSpPr>
        <p:spPr>
          <a:xfrm>
            <a:off x="566928" y="429768"/>
            <a:ext cx="11057839" cy="182880"/>
          </a:xfrm>
          <a:prstGeom prst="rect">
            <a:avLst/>
          </a:prstGeom>
          <a:noFill/>
        </p:spPr>
        <p:txBody>
          <a:bodyPr wrap="square" lIns="0" rIns="0" tIns="0" bIns="0" anchor="t">
            <a:spAutoFit/>
          </a:bodyPr>
          <a:lstStyle/>
          <a:p>
            <a:pPr algn="l"/>
            <a:r>
              <a:rPr sz="900" b="1" i="0">
                <a:solidFill>
                  <a:srgbClr val="BF8F00"/>
                </a:solidFill>
                <a:latin typeface="Calibri"/>
              </a:rPr>
              <a:t>APPENDIX — HISTORICAL, DO NOT RESTATE</a:t>
            </a:r>
          </a:p>
        </p:txBody>
      </p:sp>
      <p:sp>
        <p:nvSpPr>
          <p:cNvPr id="10" name="Rectangle 9"/>
          <p:cNvSpPr/>
          <p:nvPr/>
        </p:nvSpPr>
        <p:spPr>
          <a:xfrm>
            <a:off x="566928" y="1463040"/>
            <a:ext cx="1051560" cy="3810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618488" y="1463040"/>
            <a:ext cx="10006279" cy="3810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ixNote"/>
          <p:cNvSpPr txBox="1"/>
          <p:nvPr/>
        </p:nvSpPr>
        <p:spPr>
          <a:xfrm>
            <a:off x="566928" y="5760720"/>
            <a:ext cx="3840480" cy="274320"/>
          </a:xfrm>
          <a:prstGeom prst="rect">
            <a:avLst/>
          </a:prstGeom>
          <a:noFill/>
        </p:spPr>
        <p:txBody>
          <a:bodyPr wrap="square" lIns="0" rIns="0" tIns="0" bIns="0" anchor="t">
            <a:spAutoFit/>
          </a:bodyPr>
          <a:lstStyle/>
          <a:p>
            <a:pPr algn="l"/>
            <a:r>
              <a:rPr sz="1000" b="0" i="1">
                <a:solidFill>
                  <a:srgbClr val="595959"/>
                </a:solidFill>
                <a:latin typeface="Calibri"/>
              </a:rPr>
              <a:t>Appendix FY mix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Northstar Analytics — FY2026 Q3 Board Review</dc:title>
  <dc:subject>Q3 board review and appendix</dc:subject>
  <dc:creator>Priya Shah, VP Finance</dc:creator>
  <cp:keywords>Northstar Analytics; FY2026; Q3; board pack; confidential</cp:keywords>
  <dc:description>Confidential board material. KPI figures are quoted from the Q3 workbook.</dc:description>
  <cp:lastModifiedBy>Priya Shah, VP Finance</cp:lastModifiedBy>
  <cp:revision>1</cp:revision>
  <dcterms:created xsi:type="dcterms:W3CDTF">2013-01-27T09:14:16Z</dcterms:created>
  <dcterms:modified xsi:type="dcterms:W3CDTF">2013-01-27T09:15:58Z</dcterms:modified>
  <cp:category>Board reporting</cp:category>
</cp:coreProperties>
</file>